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2947" r:id="rId2"/>
    <p:sldId id="12830" r:id="rId3"/>
    <p:sldId id="12931" r:id="rId4"/>
    <p:sldId id="12937" r:id="rId5"/>
    <p:sldId id="12938" r:id="rId6"/>
    <p:sldId id="12790" r:id="rId7"/>
    <p:sldId id="12791" r:id="rId8"/>
    <p:sldId id="12917" r:id="rId9"/>
    <p:sldId id="12792" r:id="rId10"/>
    <p:sldId id="12793" r:id="rId11"/>
    <p:sldId id="12932" r:id="rId12"/>
    <p:sldId id="12933" r:id="rId13"/>
    <p:sldId id="12934" r:id="rId14"/>
    <p:sldId id="12935" r:id="rId15"/>
    <p:sldId id="12936" r:id="rId16"/>
    <p:sldId id="12802" r:id="rId17"/>
    <p:sldId id="12803" r:id="rId18"/>
    <p:sldId id="12804" r:id="rId19"/>
    <p:sldId id="12805" r:id="rId20"/>
    <p:sldId id="12806" r:id="rId21"/>
    <p:sldId id="12807" r:id="rId22"/>
    <p:sldId id="12808" r:id="rId23"/>
    <p:sldId id="12809" r:id="rId24"/>
    <p:sldId id="12810" r:id="rId25"/>
    <p:sldId id="12918" r:id="rId26"/>
    <p:sldId id="12919" r:id="rId27"/>
    <p:sldId id="12920" r:id="rId28"/>
    <p:sldId id="423" r:id="rId29"/>
    <p:sldId id="12831" r:id="rId30"/>
    <p:sldId id="12832" r:id="rId31"/>
    <p:sldId id="12833" r:id="rId32"/>
    <p:sldId id="12906" r:id="rId33"/>
    <p:sldId id="12842" r:id="rId34"/>
    <p:sldId id="12908" r:id="rId35"/>
    <p:sldId id="12907" r:id="rId36"/>
    <p:sldId id="12909" r:id="rId37"/>
    <p:sldId id="12910" r:id="rId38"/>
    <p:sldId id="12911" r:id="rId39"/>
    <p:sldId id="12912" r:id="rId40"/>
    <p:sldId id="12913" r:id="rId41"/>
    <p:sldId id="12914" r:id="rId42"/>
    <p:sldId id="12915" r:id="rId43"/>
    <p:sldId id="12916" r:id="rId44"/>
    <p:sldId id="12939" r:id="rId45"/>
    <p:sldId id="12943" r:id="rId46"/>
    <p:sldId id="12944" r:id="rId47"/>
    <p:sldId id="12940" r:id="rId48"/>
    <p:sldId id="12941" r:id="rId49"/>
    <p:sldId id="12942" r:id="rId50"/>
    <p:sldId id="12945" r:id="rId51"/>
    <p:sldId id="12946" r:id="rId52"/>
    <p:sldId id="12921" r:id="rId53"/>
    <p:sldId id="12922" r:id="rId54"/>
    <p:sldId id="12923" r:id="rId55"/>
    <p:sldId id="12924" r:id="rId56"/>
    <p:sldId id="12925" r:id="rId57"/>
    <p:sldId id="12926" r:id="rId58"/>
    <p:sldId id="12927" r:id="rId59"/>
    <p:sldId id="12928" r:id="rId60"/>
    <p:sldId id="12929" r:id="rId61"/>
    <p:sldId id="12930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6E45E-1D3E-446C-B547-5EBA74747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7AB15B-1CE0-40AA-B0B7-997565F46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03D02-CE92-4C39-ABCA-34745E79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1B168-A58D-4CA9-84EF-0C0142FE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622B4-3D99-470F-A41C-1E569389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0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53F4F-5636-4073-AEA8-0BB30E20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DA2206-29F9-415D-A8F3-05890EA0D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82D15D-ED86-4485-9C23-53CA138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D3C32-FC53-4E98-8B75-A3655749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03349A-4EBB-4D74-85F9-EBCD919C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04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84587-980A-4450-964E-1C91976A8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99D627-668F-437D-B84A-843EFB914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4C3BD-48F9-42A9-8BD6-FD74DDD7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262A48-D586-4F3F-AA3E-B403B9DCB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7B7678-9428-4264-8FDB-A197D8AC3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06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727A1-17A1-4AD3-90F0-BD267D7D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F9CCD-9B1A-4003-9D66-49BD9A4CB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F38548-A978-4AE5-897C-64CDFE326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EF1D2A-2224-4C05-95DC-8663156E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019B06-CBF4-461A-8069-66AE724A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8F50D-74D1-4B66-AB87-D3D3D798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09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0B6CB-EC91-4EAE-8CAD-22EC412E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05368-F2C0-4913-932B-144A99B97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5261CC-AB03-4536-A026-902EC2BAB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84CAF8-C956-42F8-9021-A6779F37A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DAB8F3-FDF3-4CE2-833B-EA914A068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1E9BF8-3528-4614-86FA-C567635B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6147E7-4B4B-48F8-BE72-B20AB938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66F7C0-F1D1-46B3-9133-94FA4B0E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27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BA253-CD9F-47C4-A201-28309BA1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DE86B2-84C9-40F3-9CDA-19950286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E86540-EA68-47ED-9C70-5DFD7605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7246-2FC2-4C41-93B8-5ABCDE79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81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D64B4C-5946-4F67-9A2C-6EBB4ED8D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C0EB93-ED80-4698-9E5F-CB6337E7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10BFFD-23AC-4018-A817-F4C67ACF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24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74828-6194-4BC9-B28F-F38A439C0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B84C0-4846-4351-8A2A-BD2765EBF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9012AE-A31D-4ADD-9415-C59A8F75A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4C607B-572C-455B-AF76-740F8E15D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913D26-C57C-434E-9062-BF34269B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E62DFB-FC5E-4F12-81E5-45BBAAB9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85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598AD-C9AB-4DA8-9062-9BBE2FC21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066D2F-CE39-4CD0-A412-D27C372C2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92F3C8-D3DE-4ADF-AC33-89D045E61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F124F1-B6AB-4F59-B4BE-8E35E41CF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0A340F-9261-4E85-A754-F34FE586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2B14F1-E1A0-4AC0-A21A-6C7AE1B3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573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5441F-4F32-4EDA-8FE7-429648D1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317493-DB72-4CC9-9D1F-1D735FCB4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044CFE-32E9-4B1A-A1AF-A37E92C2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EAC1D7-AACE-4352-8B33-11037B6A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C20E2-65EA-4841-B328-C082F1E7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85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086905-9ADB-4B5B-91E5-F5CD325DA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D792D4-565F-4437-81C0-BE7012499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F1BE34-2956-40B1-ACE7-663A6349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8D397-35F3-403B-AC03-B5096F2C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B0791B-10A9-4FA3-A134-4503B592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640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스터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75" b="36786"/>
          <a:stretch/>
        </p:blipFill>
        <p:spPr>
          <a:xfrm>
            <a:off x="0" y="4756"/>
            <a:ext cx="12192000" cy="947744"/>
          </a:xfrm>
          <a:prstGeom prst="rect">
            <a:avLst/>
          </a:prstGeom>
        </p:spPr>
      </p:pic>
      <p:grpSp>
        <p:nvGrpSpPr>
          <p:cNvPr id="132" name="그룹 131"/>
          <p:cNvGrpSpPr/>
          <p:nvPr userDrawn="1"/>
        </p:nvGrpSpPr>
        <p:grpSpPr>
          <a:xfrm>
            <a:off x="0" y="1"/>
            <a:ext cx="12192000" cy="61919"/>
            <a:chOff x="420624" y="321896"/>
            <a:chExt cx="9144000" cy="61919"/>
          </a:xfrm>
        </p:grpSpPr>
        <p:sp>
          <p:nvSpPr>
            <p:cNvPr id="133" name="직사각형 132"/>
            <p:cNvSpPr/>
            <p:nvPr userDrawn="1"/>
          </p:nvSpPr>
          <p:spPr>
            <a:xfrm>
              <a:off x="420624" y="321896"/>
              <a:ext cx="2615184" cy="61919"/>
            </a:xfrm>
            <a:prstGeom prst="rect">
              <a:avLst/>
            </a:prstGeom>
            <a:solidFill>
              <a:srgbClr val="00A4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34" name="직사각형 133"/>
            <p:cNvSpPr/>
            <p:nvPr userDrawn="1"/>
          </p:nvSpPr>
          <p:spPr>
            <a:xfrm>
              <a:off x="916982" y="321896"/>
              <a:ext cx="8647642" cy="61919"/>
            </a:xfrm>
            <a:prstGeom prst="rect">
              <a:avLst/>
            </a:prstGeom>
            <a:solidFill>
              <a:srgbClr val="005B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11" name="텍스트 개체 틀 17"/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2400" b="1" kern="1200" spc="-200" baseline="0" smtClean="0">
                <a:gradFill>
                  <a:gsLst>
                    <a:gs pos="100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j-ea"/>
                <a:ea typeface="+mn-ea"/>
                <a:cs typeface="+mn-cs"/>
              </a:defRPr>
            </a:lvl1pPr>
            <a:lvl2pPr>
              <a:defRPr lang="ko-KR" altLang="en-US" sz="1400" kern="1200" smtClean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n-ea"/>
                <a:cs typeface="+mn-cs"/>
              </a:defRPr>
            </a:lvl2pPr>
            <a:lvl3pPr>
              <a:defRPr lang="ko-KR" altLang="en-US" sz="1400" kern="1200" smtClean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n-ea"/>
                <a:cs typeface="+mn-cs"/>
              </a:defRPr>
            </a:lvl3pPr>
            <a:lvl4pPr>
              <a:defRPr lang="ko-KR" altLang="en-US" sz="1400" kern="1200" smtClean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n-ea"/>
                <a:cs typeface="+mn-cs"/>
              </a:defRPr>
            </a:lvl4pPr>
            <a:lvl5pPr>
              <a:defRPr lang="ko-KR" altLang="en-US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567" y="-55623"/>
            <a:ext cx="1012754" cy="1068502"/>
          </a:xfrm>
          <a:prstGeom prst="rect">
            <a:avLst/>
          </a:prstGeom>
          <a:ln w="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519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9C8930-68E1-43DD-AFE2-34216B9E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57075-D6A3-48A7-86C3-FA7CF191E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588308-BF67-4D38-A75E-8B2226F2D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FDE3D-8014-43FC-AF1F-FB95728BD515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73A708-3C1B-4880-B3E5-D78949B83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DE013-30DC-48C0-A404-E780B62E2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E1937-1ABB-415C-9A6B-FFEA9BB2E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80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1B9755-D2B4-4393-9F8B-B7D1968BBF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권장 이수 과목 발표 대학</a:t>
            </a:r>
            <a:r>
              <a:rPr lang="en-US" altLang="ko-KR" dirty="0"/>
              <a:t>(20250901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4D41585-5141-40BC-9A36-164634E1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35" y="1725582"/>
            <a:ext cx="1994652" cy="192401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C76D4BE-BB5B-46BA-88FE-45FDDA589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12" y="3877916"/>
            <a:ext cx="1850898" cy="18296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1523A5-7466-4475-B454-25214B157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238" y="1733140"/>
            <a:ext cx="1847150" cy="18534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2F4B534-8E7C-4B1D-93C7-283BDB102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6924" y="3877916"/>
            <a:ext cx="1563711" cy="20291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FA658C-E1DD-4FCF-BB44-FE2ABC77E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489" y="1703702"/>
            <a:ext cx="1927597" cy="18828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4A89AA5-8A55-460C-B0E3-EF8DFF59DD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633" y="3877916"/>
            <a:ext cx="2142959" cy="22129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AFFC8A-BD80-4376-B096-AE1FCD0841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2829" y="1766748"/>
            <a:ext cx="1856552" cy="18828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54A279-4977-4673-9D81-4D41BD9631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6620" y="3877916"/>
            <a:ext cx="2243234" cy="21208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CA09F7F-015F-4C6F-9EEF-845947BB1D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4527" y="1696469"/>
            <a:ext cx="1927597" cy="19531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9DBAD9-B6BF-42B1-AAA4-C845005718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8169" y="3864216"/>
            <a:ext cx="1939946" cy="203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5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2C1CE9E-C7A9-4159-A154-54EE00B7DF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건국대학교 </a:t>
            </a:r>
            <a:r>
              <a:rPr lang="en-US" altLang="ko-KR" dirty="0"/>
              <a:t>KU: PICK(</a:t>
            </a:r>
            <a:r>
              <a:rPr lang="ko-KR" altLang="en-US" dirty="0"/>
              <a:t>이수추천과목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55BA05-A3D4-4F3F-8F58-C1540D8AD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66" y="996476"/>
            <a:ext cx="6684945" cy="556103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453BE4F-780D-4F1E-9A8A-C8CBF8166ED4}"/>
              </a:ext>
            </a:extLst>
          </p:cNvPr>
          <p:cNvSpPr/>
          <p:nvPr/>
        </p:nvSpPr>
        <p:spPr>
          <a:xfrm>
            <a:off x="7620000" y="1246094"/>
            <a:ext cx="4303059" cy="10219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FF0000"/>
                </a:solidFill>
              </a:rPr>
              <a:t>기초학력을 확보</a:t>
            </a:r>
            <a:r>
              <a:rPr lang="ko-KR" altLang="en-US" sz="2000" b="1" dirty="0">
                <a:solidFill>
                  <a:schemeClr val="tx1"/>
                </a:solidFill>
              </a:rPr>
              <a:t>하기 위한 일반선택과목 이수 강조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8AB48C-B85C-477D-9751-44D90C0C6708}"/>
              </a:ext>
            </a:extLst>
          </p:cNvPr>
          <p:cNvSpPr/>
          <p:nvPr/>
        </p:nvSpPr>
        <p:spPr>
          <a:xfrm>
            <a:off x="7620000" y="2572870"/>
            <a:ext cx="4303059" cy="10219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FF0000"/>
                </a:solidFill>
              </a:rPr>
              <a:t>진로와 적성</a:t>
            </a:r>
            <a:r>
              <a:rPr lang="ko-KR" altLang="en-US" sz="2000" b="1" dirty="0">
                <a:solidFill>
                  <a:schemeClr val="tx1"/>
                </a:solidFill>
              </a:rPr>
              <a:t>에 맞춰 진로선택 및 융합선택과목 이수 권장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4C59CC-59ED-416E-9003-7B5137A496BE}"/>
              </a:ext>
            </a:extLst>
          </p:cNvPr>
          <p:cNvSpPr/>
          <p:nvPr/>
        </p:nvSpPr>
        <p:spPr>
          <a:xfrm>
            <a:off x="7620000" y="3929391"/>
            <a:ext cx="4303059" cy="10219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포괄적인 가이드라인을 제시함으로써 </a:t>
            </a:r>
            <a:r>
              <a:rPr lang="ko-KR" altLang="en-US" sz="2000" b="1" dirty="0">
                <a:solidFill>
                  <a:srgbClr val="FF0000"/>
                </a:solidFill>
              </a:rPr>
              <a:t>자율성</a:t>
            </a:r>
            <a:r>
              <a:rPr lang="ko-KR" altLang="en-US" sz="2000" b="1" dirty="0">
                <a:solidFill>
                  <a:schemeClr val="tx1"/>
                </a:solidFill>
              </a:rPr>
              <a:t> 확보를 꾀함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DFA3B2-8E74-4FE7-B6B0-D92DD4A62E2A}"/>
              </a:ext>
            </a:extLst>
          </p:cNvPr>
          <p:cNvSpPr/>
          <p:nvPr/>
        </p:nvSpPr>
        <p:spPr>
          <a:xfrm>
            <a:off x="7620000" y="5285912"/>
            <a:ext cx="4303059" cy="10219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FF0000"/>
                </a:solidFill>
              </a:rPr>
              <a:t>수업 내용</a:t>
            </a:r>
            <a:r>
              <a:rPr lang="en-US" altLang="ko-KR" sz="2000" b="1" dirty="0">
                <a:solidFill>
                  <a:srgbClr val="FF0000"/>
                </a:solidFill>
              </a:rPr>
              <a:t>, </a:t>
            </a:r>
            <a:r>
              <a:rPr lang="ko-KR" altLang="en-US" sz="2000" b="1" dirty="0" err="1">
                <a:solidFill>
                  <a:srgbClr val="FF0000"/>
                </a:solidFill>
              </a:rPr>
              <a:t>학생별</a:t>
            </a:r>
            <a:r>
              <a:rPr lang="ko-KR" altLang="en-US" sz="2000" b="1" dirty="0">
                <a:solidFill>
                  <a:srgbClr val="FF0000"/>
                </a:solidFill>
              </a:rPr>
              <a:t> 수강 태도</a:t>
            </a:r>
            <a:r>
              <a:rPr lang="ko-KR" altLang="en-US" sz="2000" b="1" dirty="0">
                <a:solidFill>
                  <a:schemeClr val="tx1"/>
                </a:solidFill>
              </a:rPr>
              <a:t> 등을 학생부 위주 전형 평가에 반영</a:t>
            </a:r>
          </a:p>
        </p:txBody>
      </p:sp>
    </p:spTree>
    <p:extLst>
      <p:ext uri="{BB962C8B-B14F-4D97-AF65-F5344CB8AC3E}">
        <p14:creationId xmlns:p14="http://schemas.microsoft.com/office/powerpoint/2010/main" val="1993102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2628B47-8717-498E-ADC4-2482C49A48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경북대학교 </a:t>
            </a:r>
            <a:r>
              <a:rPr lang="en-US" altLang="ko-KR" dirty="0"/>
              <a:t>2028</a:t>
            </a:r>
            <a:r>
              <a:rPr lang="ko-KR" altLang="en-US" dirty="0"/>
              <a:t>학년도 과목 선택 가이드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22DF9A-89E4-4C17-BA11-97CE57C05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998178"/>
              </p:ext>
            </p:extLst>
          </p:nvPr>
        </p:nvGraphicFramePr>
        <p:xfrm>
          <a:off x="345141" y="1266514"/>
          <a:ext cx="11501718" cy="512532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96236">
                  <a:extLst>
                    <a:ext uri="{9D8B030D-6E8A-4147-A177-3AD203B41FA5}">
                      <a16:colId xmlns:a16="http://schemas.microsoft.com/office/drawing/2014/main" val="650327869"/>
                    </a:ext>
                  </a:extLst>
                </a:gridCol>
                <a:gridCol w="5253318">
                  <a:extLst>
                    <a:ext uri="{9D8B030D-6E8A-4147-A177-3AD203B41FA5}">
                      <a16:colId xmlns:a16="http://schemas.microsoft.com/office/drawing/2014/main" val="630753752"/>
                    </a:ext>
                  </a:extLst>
                </a:gridCol>
                <a:gridCol w="2752164">
                  <a:extLst>
                    <a:ext uri="{9D8B030D-6E8A-4147-A177-3AD203B41FA5}">
                      <a16:colId xmlns:a16="http://schemas.microsoft.com/office/drawing/2014/main" val="1891258855"/>
                    </a:ext>
                  </a:extLst>
                </a:gridCol>
              </a:tblGrid>
              <a:tr h="4138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과목선택 안내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983567"/>
                  </a:ext>
                </a:extLst>
              </a:tr>
              <a:tr h="4138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독어독문학과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전공관련 제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외국어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한문 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과목 이상 </a:t>
                      </a:r>
                      <a:r>
                        <a:rPr lang="ko-KR" altLang="en-US" dirty="0" err="1"/>
                        <a:t>이수권장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612091"/>
                  </a:ext>
                </a:extLst>
              </a:tr>
              <a:tr h="4138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중어중문학과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일어일문학과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전공관련 제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외국어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한문 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 </a:t>
                      </a:r>
                      <a:r>
                        <a:rPr lang="ko-KR" altLang="en-US" dirty="0" err="1"/>
                        <a:t>이수권장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972243"/>
                  </a:ext>
                </a:extLst>
              </a:tr>
              <a:tr h="4138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사학과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고고인류학과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세계사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사회와 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동아시아역사기행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 </a:t>
                      </a:r>
                      <a:r>
                        <a:rPr lang="ko-KR" altLang="en-US" dirty="0" err="1"/>
                        <a:t>이수권장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930921"/>
                  </a:ext>
                </a:extLst>
              </a:tr>
              <a:tr h="10205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사회과학대학 전 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사회와 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세계시민과 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현대사회와 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국제 관계의 이해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한국지리 탐구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도시의 미래 탐구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인문학과 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인간과 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과목 이상 </a:t>
                      </a:r>
                      <a:r>
                        <a:rPr lang="ko-KR" altLang="en-US" dirty="0" err="1"/>
                        <a:t>이수권장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10452"/>
                  </a:ext>
                </a:extLst>
              </a:tr>
              <a:tr h="7143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통계학과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물리학과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Ⅰ,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확률과 통계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인공지능 수학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물리학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과목 이상 </a:t>
                      </a:r>
                      <a:r>
                        <a:rPr lang="ko-KR" altLang="en-US" dirty="0" err="1"/>
                        <a:t>이수권장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075983"/>
                  </a:ext>
                </a:extLst>
              </a:tr>
              <a:tr h="7143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화학과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생명공학부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생물학과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화학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생명과학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화학반응의 세계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세포와 물질대사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생물의 유전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과목 이상 </a:t>
                      </a:r>
                      <a:r>
                        <a:rPr lang="ko-KR" altLang="en-US" dirty="0" err="1"/>
                        <a:t>이수권장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666295"/>
                  </a:ext>
                </a:extLst>
              </a:tr>
              <a:tr h="10205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공과대학 전 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기하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인공지능 수학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물리학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 화학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전자기와 양자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 반응의 세계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역학과 에너지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물질과 에너지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과목 이상 </a:t>
                      </a:r>
                      <a:r>
                        <a:rPr lang="ko-KR" altLang="en-US" dirty="0" err="1"/>
                        <a:t>이수권장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385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79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2628B47-8717-498E-ADC4-2482C49A48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경북대학교 </a:t>
            </a:r>
            <a:r>
              <a:rPr lang="en-US" altLang="ko-KR" dirty="0"/>
              <a:t>2028</a:t>
            </a:r>
            <a:r>
              <a:rPr lang="ko-KR" altLang="en-US" dirty="0"/>
              <a:t>학년도 과목 선택 가이드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22DF9A-89E4-4C17-BA11-97CE57C05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423554"/>
              </p:ext>
            </p:extLst>
          </p:nvPr>
        </p:nvGraphicFramePr>
        <p:xfrm>
          <a:off x="345141" y="1266514"/>
          <a:ext cx="11501718" cy="52909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20035">
                  <a:extLst>
                    <a:ext uri="{9D8B030D-6E8A-4147-A177-3AD203B41FA5}">
                      <a16:colId xmlns:a16="http://schemas.microsoft.com/office/drawing/2014/main" val="650327869"/>
                    </a:ext>
                  </a:extLst>
                </a:gridCol>
                <a:gridCol w="5329519">
                  <a:extLst>
                    <a:ext uri="{9D8B030D-6E8A-4147-A177-3AD203B41FA5}">
                      <a16:colId xmlns:a16="http://schemas.microsoft.com/office/drawing/2014/main" val="630753752"/>
                    </a:ext>
                  </a:extLst>
                </a:gridCol>
                <a:gridCol w="2752164">
                  <a:extLst>
                    <a:ext uri="{9D8B030D-6E8A-4147-A177-3AD203B41FA5}">
                      <a16:colId xmlns:a16="http://schemas.microsoft.com/office/drawing/2014/main" val="1891258855"/>
                    </a:ext>
                  </a:extLst>
                </a:gridCol>
              </a:tblGrid>
              <a:tr h="4355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과목선택 안내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983567"/>
                  </a:ext>
                </a:extLst>
              </a:tr>
              <a:tr h="7621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대학 전 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대수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미적분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확률과 통계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역학과 에너지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전자기와 양자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612091"/>
                  </a:ext>
                </a:extLst>
              </a:tr>
              <a:tr h="1088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농업생명과학대학 전 모집단위</a:t>
                      </a:r>
                      <a:r>
                        <a:rPr lang="en-US" altLang="ko-KR" sz="17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700" b="0" dirty="0">
                          <a:solidFill>
                            <a:schemeClr val="tx1"/>
                          </a:solidFill>
                        </a:rPr>
                        <a:t>식품자원경제학과 제외</a:t>
                      </a:r>
                      <a:r>
                        <a:rPr lang="en-US" altLang="ko-KR" sz="17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대수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미적분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Ⅰ,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화학반응의 세계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세포와 물질대사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생물의 유전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물질과 에너지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972243"/>
                  </a:ext>
                </a:extLst>
              </a:tr>
              <a:tr h="4355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식품자원경제학과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미적분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Ⅰ,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경제수학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930921"/>
                  </a:ext>
                </a:extLst>
              </a:tr>
              <a:tr h="718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사범대학 전 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교육의 이해 및 학과의 특성에 맞는 교과목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10452"/>
                  </a:ext>
                </a:extLst>
              </a:tr>
              <a:tr h="1088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의과대학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치과대학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수의과대학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약학대학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대수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미적분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Ⅰ,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미적분 </a:t>
                      </a:r>
                      <a:r>
                        <a:rPr lang="en-US" altLang="ko-KR" b="1" i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Ⅱ,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물질과 에너지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화학반응의 세계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세포와 물질대사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생물의 유전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075983"/>
                  </a:ext>
                </a:extLst>
              </a:tr>
              <a:tr h="762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식품영양학과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생물의 유전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화학 반응의 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666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73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2628B47-8717-498E-ADC4-2482C49A48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경북대학교 </a:t>
            </a:r>
            <a:r>
              <a:rPr lang="en-US" altLang="ko-KR" dirty="0"/>
              <a:t>2028</a:t>
            </a:r>
            <a:r>
              <a:rPr lang="ko-KR" altLang="en-US" dirty="0"/>
              <a:t>학년도 과목 선택 가이드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22DF9A-89E4-4C17-BA11-97CE57C05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633128"/>
              </p:ext>
            </p:extLst>
          </p:nvPr>
        </p:nvGraphicFramePr>
        <p:xfrm>
          <a:off x="345141" y="1266514"/>
          <a:ext cx="11501718" cy="445296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20035">
                  <a:extLst>
                    <a:ext uri="{9D8B030D-6E8A-4147-A177-3AD203B41FA5}">
                      <a16:colId xmlns:a16="http://schemas.microsoft.com/office/drawing/2014/main" val="650327869"/>
                    </a:ext>
                  </a:extLst>
                </a:gridCol>
                <a:gridCol w="5307106">
                  <a:extLst>
                    <a:ext uri="{9D8B030D-6E8A-4147-A177-3AD203B41FA5}">
                      <a16:colId xmlns:a16="http://schemas.microsoft.com/office/drawing/2014/main" val="630753752"/>
                    </a:ext>
                  </a:extLst>
                </a:gridCol>
                <a:gridCol w="2774577">
                  <a:extLst>
                    <a:ext uri="{9D8B030D-6E8A-4147-A177-3AD203B41FA5}">
                      <a16:colId xmlns:a16="http://schemas.microsoft.com/office/drawing/2014/main" val="1891258855"/>
                    </a:ext>
                  </a:extLst>
                </a:gridCol>
              </a:tblGrid>
              <a:tr h="5566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과목선택 안내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983567"/>
                  </a:ext>
                </a:extLst>
              </a:tr>
              <a:tr h="974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간호대학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생물의 유전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화학 반응의 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612091"/>
                  </a:ext>
                </a:extLst>
              </a:tr>
              <a:tr h="974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생태환경대학 전 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대수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미적분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Ⅰ,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세포와 물질대사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생물의 유전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972243"/>
                  </a:ext>
                </a:extLst>
              </a:tr>
              <a:tr h="1391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과학기술대학 전 모집단위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7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700" b="0" dirty="0">
                          <a:solidFill>
                            <a:schemeClr val="tx1"/>
                          </a:solidFill>
                        </a:rPr>
                        <a:t>치위생학과</a:t>
                      </a:r>
                      <a:r>
                        <a:rPr lang="en-US" altLang="ko-KR" sz="17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700" b="0" dirty="0" err="1">
                          <a:solidFill>
                            <a:schemeClr val="tx1"/>
                          </a:solidFill>
                        </a:rPr>
                        <a:t>식품외식학과</a:t>
                      </a:r>
                      <a:r>
                        <a:rPr lang="ko-KR" altLang="en-US" sz="1700" b="0" dirty="0">
                          <a:solidFill>
                            <a:schemeClr val="tx1"/>
                          </a:solidFill>
                        </a:rPr>
                        <a:t> 제외</a:t>
                      </a:r>
                      <a:r>
                        <a:rPr lang="en-US" altLang="ko-KR" sz="17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대수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미적분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Ⅰ,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기하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인공지능 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역학과 에너지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전자기와 양자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물질과 에너지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화학 반응의 세계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930921"/>
                  </a:ext>
                </a:extLst>
              </a:tr>
              <a:tr h="5566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치위생학과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식품외식산업학과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생물의 유전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이수권장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10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24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4639F13-ECC0-4592-846A-F3B79A39A6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115826"/>
            <a:ext cx="8302324" cy="830997"/>
          </a:xfrm>
        </p:spPr>
        <p:txBody>
          <a:bodyPr/>
          <a:lstStyle/>
          <a:p>
            <a:r>
              <a:rPr lang="ko-KR" altLang="en-US" dirty="0"/>
              <a:t>경희대</a:t>
            </a:r>
            <a:r>
              <a:rPr lang="en-US" altLang="ko-KR" dirty="0"/>
              <a:t>: 2028 </a:t>
            </a:r>
            <a:r>
              <a:rPr lang="ko-KR" altLang="en-US" dirty="0"/>
              <a:t>자연계열 모집단위 교과 이수 권장 과목 안내</a:t>
            </a:r>
            <a:r>
              <a:rPr lang="en-US" altLang="ko-KR" dirty="0"/>
              <a:t>(</a:t>
            </a:r>
            <a:r>
              <a:rPr lang="ko-KR" altLang="en-US" dirty="0"/>
              <a:t>예고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0E04B85-6745-4337-9CE1-FE79B5DA9C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6900" y="1177031"/>
          <a:ext cx="11600142" cy="5380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980">
                  <a:extLst>
                    <a:ext uri="{9D8B030D-6E8A-4147-A177-3AD203B41FA5}">
                      <a16:colId xmlns:a16="http://schemas.microsoft.com/office/drawing/2014/main" val="779111135"/>
                    </a:ext>
                  </a:extLst>
                </a:gridCol>
                <a:gridCol w="1447177">
                  <a:extLst>
                    <a:ext uri="{9D8B030D-6E8A-4147-A177-3AD203B41FA5}">
                      <a16:colId xmlns:a16="http://schemas.microsoft.com/office/drawing/2014/main" val="2466732905"/>
                    </a:ext>
                  </a:extLst>
                </a:gridCol>
                <a:gridCol w="1387463">
                  <a:extLst>
                    <a:ext uri="{9D8B030D-6E8A-4147-A177-3AD203B41FA5}">
                      <a16:colId xmlns:a16="http://schemas.microsoft.com/office/drawing/2014/main" val="4208352197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383533148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49128802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439794593"/>
                    </a:ext>
                  </a:extLst>
                </a:gridCol>
                <a:gridCol w="902612">
                  <a:extLst>
                    <a:ext uri="{9D8B030D-6E8A-4147-A177-3AD203B41FA5}">
                      <a16:colId xmlns:a16="http://schemas.microsoft.com/office/drawing/2014/main" val="326623763"/>
                    </a:ext>
                  </a:extLst>
                </a:gridCol>
                <a:gridCol w="1394529">
                  <a:extLst>
                    <a:ext uri="{9D8B030D-6E8A-4147-A177-3AD203B41FA5}">
                      <a16:colId xmlns:a16="http://schemas.microsoft.com/office/drawing/2014/main" val="3520661893"/>
                    </a:ext>
                  </a:extLst>
                </a:gridCol>
                <a:gridCol w="1025181">
                  <a:extLst>
                    <a:ext uri="{9D8B030D-6E8A-4147-A177-3AD203B41FA5}">
                      <a16:colId xmlns:a16="http://schemas.microsoft.com/office/drawing/2014/main" val="3097105654"/>
                    </a:ext>
                  </a:extLst>
                </a:gridCol>
              </a:tblGrid>
              <a:tr h="29985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모집단위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변경</a:t>
                      </a:r>
                      <a:r>
                        <a:rPr lang="en-US" altLang="ko-KR" sz="1600" dirty="0"/>
                        <a:t>(2022 </a:t>
                      </a:r>
                      <a:r>
                        <a:rPr lang="ko-KR" altLang="en-US" sz="1600" dirty="0"/>
                        <a:t>개정 교육과정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기존</a:t>
                      </a:r>
                      <a:r>
                        <a:rPr lang="en-US" altLang="ko-KR" sz="1600" dirty="0"/>
                        <a:t>(2015 </a:t>
                      </a:r>
                      <a:r>
                        <a:rPr lang="ko-KR" altLang="en-US" sz="1600" dirty="0"/>
                        <a:t>개정 교육과정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522986"/>
                  </a:ext>
                </a:extLst>
              </a:tr>
              <a:tr h="29985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핵심과목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764416"/>
                  </a:ext>
                </a:extLst>
              </a:tr>
              <a:tr h="5179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054753"/>
                  </a:ext>
                </a:extLst>
              </a:tr>
              <a:tr h="7812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수학과</a:t>
                      </a:r>
                      <a:endParaRPr lang="en-US" altLang="ko-KR" sz="1600" b="1" dirty="0"/>
                    </a:p>
                    <a:p>
                      <a:pPr algn="l" latinLnBrk="1"/>
                      <a:r>
                        <a:rPr lang="ko-KR" altLang="en-US" sz="1600" b="1" dirty="0"/>
                        <a:t>응용수학과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</a:t>
                      </a:r>
                      <a:r>
                        <a:rPr lang="en-US" altLang="ko-KR" sz="1300" b="0" dirty="0"/>
                        <a:t>Ⅰ </a:t>
                      </a:r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  <a:r>
                        <a:rPr lang="ko-KR" altLang="en-US" sz="1300" b="0" dirty="0"/>
                        <a:t>미적분 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-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-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629856"/>
                  </a:ext>
                </a:extLst>
              </a:tr>
              <a:tr h="7812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소프트웨어융합학과</a:t>
                      </a:r>
                      <a:endParaRPr lang="en-US" altLang="ko-KR" sz="1600" b="1" dirty="0"/>
                    </a:p>
                    <a:p>
                      <a:pPr algn="l" latinLnBrk="1"/>
                      <a:r>
                        <a:rPr lang="ko-KR" altLang="en-US" sz="1600" b="1" dirty="0"/>
                        <a:t>인공지능학과</a:t>
                      </a:r>
                      <a:r>
                        <a:rPr lang="en-US" altLang="ko-KR" sz="1600" b="1" dirty="0"/>
                        <a:t> </a:t>
                      </a:r>
                    </a:p>
                    <a:p>
                      <a:pPr algn="l" latinLnBrk="1"/>
                      <a:r>
                        <a:rPr lang="ko-KR" altLang="en-US" sz="1600" b="1" dirty="0"/>
                        <a:t>컴퓨터공학과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인공지능수학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</a:t>
                      </a:r>
                      <a:r>
                        <a:rPr lang="en-US" altLang="ko-KR" sz="1300" b="0" dirty="0"/>
                        <a:t>Ⅰ </a:t>
                      </a:r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  <a:r>
                        <a:rPr lang="ko-KR" altLang="en-US" sz="1300" b="0" dirty="0"/>
                        <a:t>미적분 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-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확률과 통계 </a:t>
                      </a:r>
                      <a:endParaRPr lang="en-US" altLang="ko-KR" sz="1300" b="0" dirty="0"/>
                    </a:p>
                    <a:p>
                      <a:pPr algn="ctr" latinLnBrk="1"/>
                      <a:r>
                        <a:rPr lang="ko-KR" altLang="en-US" sz="1300" b="0" dirty="0"/>
                        <a:t>인공지능 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-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895517"/>
                  </a:ext>
                </a:extLst>
              </a:tr>
              <a:tr h="7812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산업경영공학과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</a:t>
                      </a:r>
                      <a:r>
                        <a:rPr lang="en-US" altLang="ko-KR" sz="1300" b="0" dirty="0"/>
                        <a:t>Ⅰ </a:t>
                      </a:r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  <a:r>
                        <a:rPr lang="ko-KR" altLang="en-US" sz="1300" b="0" dirty="0"/>
                        <a:t>미적분 </a:t>
                      </a:r>
                      <a:endParaRPr lang="en-US" altLang="ko-KR" sz="1300" b="0" dirty="0"/>
                    </a:p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-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-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-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909234"/>
                  </a:ext>
                </a:extLst>
              </a:tr>
              <a:tr h="7812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물리학과</a:t>
                      </a:r>
                      <a:endParaRPr lang="en-US" altLang="ko-KR" sz="1600" b="1" dirty="0"/>
                    </a:p>
                    <a:p>
                      <a:pPr algn="l" latinLnBrk="1"/>
                      <a:r>
                        <a:rPr lang="ko-KR" altLang="en-US" sz="1600" b="1" dirty="0"/>
                        <a:t>응용물리학과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물리학 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역학과 에너지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전자기와 양자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화학 </a:t>
                      </a:r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</a:t>
                      </a:r>
                      <a:r>
                        <a:rPr lang="en-US" altLang="ko-KR" sz="1300" b="0" dirty="0"/>
                        <a:t>Ⅰ </a:t>
                      </a:r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  <a:r>
                        <a:rPr lang="ko-KR" altLang="en-US" sz="1300" b="0" dirty="0"/>
                        <a:t>미적분 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화학 </a:t>
                      </a:r>
                      <a:r>
                        <a:rPr lang="en-US" altLang="ko-KR" sz="1300" b="0" dirty="0"/>
                        <a:t>Ⅰ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379851"/>
                  </a:ext>
                </a:extLst>
              </a:tr>
              <a:tr h="7812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기계공학부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물리학 화학 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역학과 에너지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전자기와 양자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물질과 에너지 화학 반응의 세계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</a:t>
                      </a:r>
                      <a:r>
                        <a:rPr lang="en-US" altLang="ko-KR" sz="1300" b="0" dirty="0"/>
                        <a:t>Ⅰ </a:t>
                      </a:r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  <a:r>
                        <a:rPr lang="ko-KR" altLang="en-US" sz="1300" b="0" dirty="0"/>
                        <a:t>미적분 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  <a:p>
                      <a:pPr algn="ctr" latinLnBrk="1"/>
                      <a:r>
                        <a:rPr lang="ko-KR" altLang="en-US" sz="1300" b="0" dirty="0"/>
                        <a:t>화학 </a:t>
                      </a:r>
                      <a:r>
                        <a:rPr lang="en-US" altLang="ko-KR" sz="1300" b="0" dirty="0"/>
                        <a:t>Ⅰ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화학 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293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14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4639F13-ECC0-4592-846A-F3B79A39A6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115826"/>
            <a:ext cx="8302324" cy="830997"/>
          </a:xfrm>
        </p:spPr>
        <p:txBody>
          <a:bodyPr/>
          <a:lstStyle/>
          <a:p>
            <a:r>
              <a:rPr lang="ko-KR" altLang="en-US" dirty="0"/>
              <a:t>경희대</a:t>
            </a:r>
            <a:r>
              <a:rPr lang="en-US" altLang="ko-KR" dirty="0"/>
              <a:t>: 2028 </a:t>
            </a:r>
            <a:r>
              <a:rPr lang="ko-KR" altLang="en-US" dirty="0"/>
              <a:t>자연계열 모집단위 교과 이수 권장 과목 안내</a:t>
            </a:r>
            <a:r>
              <a:rPr lang="en-US" altLang="ko-KR" dirty="0"/>
              <a:t>(</a:t>
            </a:r>
            <a:r>
              <a:rPr lang="ko-KR" altLang="en-US" dirty="0"/>
              <a:t>예고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0E04B85-6745-4337-9CE1-FE79B5DA9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881354"/>
              </p:ext>
            </p:extLst>
          </p:nvPr>
        </p:nvGraphicFramePr>
        <p:xfrm>
          <a:off x="276900" y="1177030"/>
          <a:ext cx="11600142" cy="5435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980">
                  <a:extLst>
                    <a:ext uri="{9D8B030D-6E8A-4147-A177-3AD203B41FA5}">
                      <a16:colId xmlns:a16="http://schemas.microsoft.com/office/drawing/2014/main" val="779111135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466732905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420835219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83533148"/>
                    </a:ext>
                  </a:extLst>
                </a:gridCol>
                <a:gridCol w="1376979">
                  <a:extLst>
                    <a:ext uri="{9D8B030D-6E8A-4147-A177-3AD203B41FA5}">
                      <a16:colId xmlns:a16="http://schemas.microsoft.com/office/drawing/2014/main" val="1491288021"/>
                    </a:ext>
                  </a:extLst>
                </a:gridCol>
                <a:gridCol w="1203661">
                  <a:extLst>
                    <a:ext uri="{9D8B030D-6E8A-4147-A177-3AD203B41FA5}">
                      <a16:colId xmlns:a16="http://schemas.microsoft.com/office/drawing/2014/main" val="439794593"/>
                    </a:ext>
                  </a:extLst>
                </a:gridCol>
                <a:gridCol w="902612">
                  <a:extLst>
                    <a:ext uri="{9D8B030D-6E8A-4147-A177-3AD203B41FA5}">
                      <a16:colId xmlns:a16="http://schemas.microsoft.com/office/drawing/2014/main" val="326623763"/>
                    </a:ext>
                  </a:extLst>
                </a:gridCol>
                <a:gridCol w="1180188">
                  <a:extLst>
                    <a:ext uri="{9D8B030D-6E8A-4147-A177-3AD203B41FA5}">
                      <a16:colId xmlns:a16="http://schemas.microsoft.com/office/drawing/2014/main" val="3520661893"/>
                    </a:ext>
                  </a:extLst>
                </a:gridCol>
                <a:gridCol w="1239522">
                  <a:extLst>
                    <a:ext uri="{9D8B030D-6E8A-4147-A177-3AD203B41FA5}">
                      <a16:colId xmlns:a16="http://schemas.microsoft.com/office/drawing/2014/main" val="3097105654"/>
                    </a:ext>
                  </a:extLst>
                </a:gridCol>
              </a:tblGrid>
              <a:tr h="4041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모집단위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변경</a:t>
                      </a:r>
                      <a:r>
                        <a:rPr lang="en-US" altLang="ko-KR" sz="1600" dirty="0"/>
                        <a:t>(2022 </a:t>
                      </a:r>
                      <a:r>
                        <a:rPr lang="ko-KR" altLang="en-US" sz="1600" dirty="0"/>
                        <a:t>개정 교육과정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기존</a:t>
                      </a:r>
                      <a:r>
                        <a:rPr lang="en-US" altLang="ko-KR" sz="1600" dirty="0"/>
                        <a:t>(2015 </a:t>
                      </a:r>
                      <a:r>
                        <a:rPr lang="ko-KR" altLang="en-US" sz="1600" dirty="0"/>
                        <a:t>개정 교육과정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522986"/>
                  </a:ext>
                </a:extLst>
              </a:tr>
              <a:tr h="404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핵심과목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764416"/>
                  </a:ext>
                </a:extLst>
              </a:tr>
              <a:tr h="6243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054753"/>
                  </a:ext>
                </a:extLst>
              </a:tr>
              <a:tr h="14198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미래정보디스플레이학부</a:t>
                      </a:r>
                      <a:r>
                        <a:rPr lang="en-US" altLang="ko-KR" sz="1600" b="1" dirty="0"/>
                        <a:t> </a:t>
                      </a:r>
                    </a:p>
                    <a:p>
                      <a:pPr algn="l" latinLnBrk="1"/>
                      <a:r>
                        <a:rPr lang="ko-KR" altLang="en-US" sz="1600" b="1" dirty="0" err="1"/>
                        <a:t>생체의공학과</a:t>
                      </a:r>
                      <a:r>
                        <a:rPr lang="en-US" altLang="ko-KR" sz="1600" b="1" dirty="0"/>
                        <a:t> </a:t>
                      </a:r>
                    </a:p>
                    <a:p>
                      <a:pPr algn="l" latinLnBrk="1"/>
                      <a:r>
                        <a:rPr lang="ko-KR" altLang="en-US" sz="1600" b="1" dirty="0"/>
                        <a:t>전자공학과</a:t>
                      </a:r>
                      <a:r>
                        <a:rPr lang="en-US" altLang="ko-KR" sz="1600" b="1" dirty="0"/>
                        <a:t> </a:t>
                      </a:r>
                    </a:p>
                    <a:p>
                      <a:pPr algn="l" latinLnBrk="1"/>
                      <a:r>
                        <a:rPr lang="ko-KR" altLang="en-US" sz="1600" b="1" dirty="0"/>
                        <a:t>반도체공학과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물리학</a:t>
                      </a:r>
                      <a:r>
                        <a:rPr lang="en-US" altLang="ko-KR" sz="1300" b="1" dirty="0"/>
                        <a:t> </a:t>
                      </a:r>
                      <a:r>
                        <a:rPr lang="ko-KR" altLang="en-US" sz="1300" b="1" dirty="0"/>
                        <a:t>화학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/>
                        <a:t>역학과 에너지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/>
                        <a:t>전자기와 양자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  <a:endParaRPr lang="en-US" altLang="ko-KR" sz="1300" b="0" dirty="0"/>
                    </a:p>
                    <a:p>
                      <a:pPr algn="ctr" latinLnBrk="1"/>
                      <a:r>
                        <a:rPr lang="ko-KR" altLang="en-US" sz="1300" b="0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Ⅱ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화학 </a:t>
                      </a:r>
                      <a:r>
                        <a:rPr lang="en-US" altLang="ko-KR" sz="1300" b="0" dirty="0"/>
                        <a:t>Ⅰ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629856"/>
                  </a:ext>
                </a:extLst>
              </a:tr>
              <a:tr h="99199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건축공학과</a:t>
                      </a:r>
                      <a:r>
                        <a:rPr lang="en-US" altLang="ko-KR" sz="1600" b="1" dirty="0"/>
                        <a:t> </a:t>
                      </a:r>
                    </a:p>
                    <a:p>
                      <a:pPr algn="l" latinLnBrk="1"/>
                      <a:r>
                        <a:rPr lang="ko-KR" altLang="en-US" sz="1600" b="1" dirty="0"/>
                        <a:t>사회기반시스템공학과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물리학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  <a:endParaRPr lang="en-US" altLang="ko-KR" sz="1300" b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  <a:endParaRPr lang="en-US" altLang="ko-KR" sz="1300" b="0" dirty="0"/>
                    </a:p>
                    <a:p>
                      <a:pPr algn="ctr" latinLnBrk="1"/>
                      <a:r>
                        <a:rPr lang="ko-KR" altLang="en-US" sz="1300" b="0" dirty="0"/>
                        <a:t>기하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895517"/>
                  </a:ext>
                </a:extLst>
              </a:tr>
              <a:tr h="50869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건축학과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물리학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363601"/>
                  </a:ext>
                </a:extLst>
              </a:tr>
              <a:tr h="94177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화학과 </a:t>
                      </a:r>
                      <a:endParaRPr lang="en-US" altLang="ko-KR" sz="1600" b="1" dirty="0"/>
                    </a:p>
                    <a:p>
                      <a:pPr algn="l" latinLnBrk="1"/>
                      <a:r>
                        <a:rPr lang="ko-KR" altLang="en-US" sz="1600" b="1" dirty="0"/>
                        <a:t>응용화학과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화학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/>
                        <a:t>물질과 에너지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/>
                        <a:t>화학 반응의 세계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물리학 </a:t>
                      </a:r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dirty="0"/>
                        <a:t>생명과학 </a:t>
                      </a:r>
                      <a:endParaRPr lang="en-US" altLang="ko-KR" sz="1300" b="1" dirty="0"/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역학과 에너지 전자기와 양자 중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과목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ko-KR" altLang="en-US" sz="13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  <a:endParaRPr lang="en-US" altLang="ko-KR" sz="1300" b="0" dirty="0"/>
                    </a:p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화학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화학 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Ⅱ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생명과학 </a:t>
                      </a:r>
                      <a:r>
                        <a:rPr lang="en-US" altLang="ko-KR" sz="1300" b="0" dirty="0"/>
                        <a:t>Ⅰ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909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32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DD882-DEB7-D691-9547-8D4D5FE2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FF8B125-89CF-1C41-F0DC-748EE4B362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115826"/>
            <a:ext cx="8302324" cy="830997"/>
          </a:xfrm>
        </p:spPr>
        <p:txBody>
          <a:bodyPr/>
          <a:lstStyle/>
          <a:p>
            <a:r>
              <a:rPr lang="ko-KR" altLang="en-US" dirty="0"/>
              <a:t>경희대</a:t>
            </a:r>
            <a:r>
              <a:rPr lang="en-US" altLang="ko-KR" dirty="0"/>
              <a:t>: 2028 </a:t>
            </a:r>
            <a:r>
              <a:rPr lang="ko-KR" altLang="en-US" dirty="0"/>
              <a:t>자연계열 모집단위 교과 이수 권장 과목 안내</a:t>
            </a:r>
            <a:r>
              <a:rPr lang="en-US" altLang="ko-KR" dirty="0"/>
              <a:t>(</a:t>
            </a:r>
            <a:r>
              <a:rPr lang="ko-KR" altLang="en-US" dirty="0"/>
              <a:t>예고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BD91F75-D0AE-0A19-536E-E87812001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11212"/>
              </p:ext>
            </p:extLst>
          </p:nvPr>
        </p:nvGraphicFramePr>
        <p:xfrm>
          <a:off x="276900" y="946823"/>
          <a:ext cx="11545907" cy="5620461"/>
        </p:xfrm>
        <a:graphic>
          <a:graphicData uri="http://schemas.openxmlformats.org/drawingml/2006/table">
            <a:tbl>
              <a:tblPr firstRow="1" bandRow="1"/>
              <a:tblGrid>
                <a:gridCol w="1676107">
                  <a:extLst>
                    <a:ext uri="{9D8B030D-6E8A-4147-A177-3AD203B41FA5}">
                      <a16:colId xmlns:a16="http://schemas.microsoft.com/office/drawing/2014/main" val="779111135"/>
                    </a:ext>
                  </a:extLst>
                </a:gridCol>
                <a:gridCol w="1294400">
                  <a:extLst>
                    <a:ext uri="{9D8B030D-6E8A-4147-A177-3AD203B41FA5}">
                      <a16:colId xmlns:a16="http://schemas.microsoft.com/office/drawing/2014/main" val="2466732905"/>
                    </a:ext>
                  </a:extLst>
                </a:gridCol>
                <a:gridCol w="1537100">
                  <a:extLst>
                    <a:ext uri="{9D8B030D-6E8A-4147-A177-3AD203B41FA5}">
                      <a16:colId xmlns:a16="http://schemas.microsoft.com/office/drawing/2014/main" val="4208352197"/>
                    </a:ext>
                  </a:extLst>
                </a:gridCol>
                <a:gridCol w="1162937">
                  <a:extLst>
                    <a:ext uri="{9D8B030D-6E8A-4147-A177-3AD203B41FA5}">
                      <a16:colId xmlns:a16="http://schemas.microsoft.com/office/drawing/2014/main" val="383533148"/>
                    </a:ext>
                  </a:extLst>
                </a:gridCol>
                <a:gridCol w="1430509">
                  <a:extLst>
                    <a:ext uri="{9D8B030D-6E8A-4147-A177-3AD203B41FA5}">
                      <a16:colId xmlns:a16="http://schemas.microsoft.com/office/drawing/2014/main" val="1491288021"/>
                    </a:ext>
                  </a:extLst>
                </a:gridCol>
                <a:gridCol w="1138065">
                  <a:extLst>
                    <a:ext uri="{9D8B030D-6E8A-4147-A177-3AD203B41FA5}">
                      <a16:colId xmlns:a16="http://schemas.microsoft.com/office/drawing/2014/main" val="439794593"/>
                    </a:ext>
                  </a:extLst>
                </a:gridCol>
                <a:gridCol w="898392">
                  <a:extLst>
                    <a:ext uri="{9D8B030D-6E8A-4147-A177-3AD203B41FA5}">
                      <a16:colId xmlns:a16="http://schemas.microsoft.com/office/drawing/2014/main" val="326623763"/>
                    </a:ext>
                  </a:extLst>
                </a:gridCol>
                <a:gridCol w="1174670">
                  <a:extLst>
                    <a:ext uri="{9D8B030D-6E8A-4147-A177-3AD203B41FA5}">
                      <a16:colId xmlns:a16="http://schemas.microsoft.com/office/drawing/2014/main" val="3520661893"/>
                    </a:ext>
                  </a:extLst>
                </a:gridCol>
                <a:gridCol w="1233727">
                  <a:extLst>
                    <a:ext uri="{9D8B030D-6E8A-4147-A177-3AD203B41FA5}">
                      <a16:colId xmlns:a16="http://schemas.microsoft.com/office/drawing/2014/main" val="3097105654"/>
                    </a:ext>
                  </a:extLst>
                </a:gridCol>
              </a:tblGrid>
              <a:tr h="388525">
                <a:tc rowSpan="3">
                  <a:txBody>
                    <a:bodyPr/>
                    <a:lstStyle>
                      <a:lvl1pPr marL="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/>
                        <a:t>모집단위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변경</a:t>
                      </a:r>
                      <a:r>
                        <a:rPr lang="en-US" altLang="ko-KR" sz="1300" dirty="0"/>
                        <a:t>(2022 </a:t>
                      </a:r>
                      <a:r>
                        <a:rPr lang="ko-KR" altLang="en-US" sz="1300" dirty="0"/>
                        <a:t>개정 교육과정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4">
                  <a:txBody>
                    <a:bodyPr/>
                    <a:lstStyle>
                      <a:lvl1pPr marL="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기존</a:t>
                      </a:r>
                      <a:r>
                        <a:rPr lang="en-US" altLang="ko-KR" sz="1300" dirty="0"/>
                        <a:t>(2015 </a:t>
                      </a:r>
                      <a:r>
                        <a:rPr lang="ko-KR" altLang="en-US" sz="1300" dirty="0"/>
                        <a:t>개정 교육과정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522986"/>
                  </a:ext>
                </a:extLst>
              </a:tr>
              <a:tr h="388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핵심과목</a:t>
                      </a:r>
                    </a:p>
                  </a:txBody>
                  <a:tcPr marL="68580" marR="68580" marT="34290" marB="34290" anchor="ctr"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권장과목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핵심과목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권장과목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764416"/>
                  </a:ext>
                </a:extLst>
              </a:tr>
              <a:tr h="3223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수학</a:t>
                      </a:r>
                    </a:p>
                  </a:txBody>
                  <a:tcPr marL="68580" marR="68580" marT="34290" marB="34290" anchor="ctr"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과학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수학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과학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수학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과학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수학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/>
                        <a:t>과학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054753"/>
                  </a:ext>
                </a:extLst>
              </a:tr>
              <a:tr h="673942"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b="1" dirty="0"/>
                        <a:t>생물학과</a:t>
                      </a:r>
                      <a:r>
                        <a:rPr lang="en-US" altLang="ko-KR" sz="1600" b="1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600" b="1" dirty="0" err="1"/>
                        <a:t>스마트팜과학과</a:t>
                      </a:r>
                      <a:endParaRPr lang="ko-KR" altLang="en-US" sz="1600" b="1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/>
                        <a:t>화학 생명과학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 err="1"/>
                        <a:t>세포와물질대사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 err="1"/>
                        <a:t>생물의유전</a:t>
                      </a:r>
                      <a:endParaRPr lang="ko-KR" altLang="en-US" sz="1300" b="1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endParaRPr lang="ko-KR" altLang="en-US" sz="1300" b="1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1" dirty="0"/>
                        <a:t>물리학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7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화학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marL="0" marR="0" lvl="0" indent="0" algn="ctr" defTabSz="6857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spc="-150" dirty="0"/>
                        <a:t>생명과학</a:t>
                      </a:r>
                      <a:r>
                        <a:rPr lang="en-US" altLang="ko-KR" sz="1300" b="0" spc="-150" dirty="0"/>
                        <a:t>Ⅰ</a:t>
                      </a:r>
                    </a:p>
                    <a:p>
                      <a:pPr marL="0" marR="0" lvl="0" indent="0" algn="ctr" defTabSz="6857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spc="-150" dirty="0"/>
                        <a:t>생명과학</a:t>
                      </a:r>
                      <a:r>
                        <a:rPr lang="en-US" altLang="ko-KR" sz="1300" b="0" spc="-150" dirty="0"/>
                        <a:t>Ⅱ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  <a:endParaRPr lang="en-US" altLang="ko-KR" sz="1300" b="0" dirty="0"/>
                    </a:p>
                    <a:p>
                      <a:pPr algn="ctr" latinLnBrk="1"/>
                      <a:r>
                        <a:rPr lang="ko-KR" altLang="en-US" sz="1300" b="0" dirty="0" err="1"/>
                        <a:t>확률과통계</a:t>
                      </a:r>
                      <a:endParaRPr lang="ko-KR" altLang="en-US" sz="1300" b="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0" dirty="0"/>
                        <a:t>화학</a:t>
                      </a:r>
                      <a:r>
                        <a:rPr lang="en-US" altLang="ko-KR" sz="1300" b="0" spc="-150" dirty="0"/>
                        <a:t>Ⅱ</a:t>
                      </a:r>
                      <a:endParaRPr lang="ko-KR" altLang="en-US" sz="1300" b="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629856"/>
                  </a:ext>
                </a:extLst>
              </a:tr>
              <a:tr h="1025564"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b="1" dirty="0"/>
                        <a:t>식품영양학과</a:t>
                      </a:r>
                      <a:endParaRPr lang="en-US" altLang="ko-KR" sz="1600" b="1" dirty="0"/>
                    </a:p>
                    <a:p>
                      <a:pPr algn="l" latinLnBrk="1"/>
                      <a:r>
                        <a:rPr lang="ko-KR" altLang="en-US" sz="1600" b="1" dirty="0"/>
                        <a:t>식품생명공학과</a:t>
                      </a:r>
                      <a:endParaRPr lang="en-US" altLang="ko-KR" sz="1600" b="1" dirty="0"/>
                    </a:p>
                    <a:p>
                      <a:pPr algn="l" latinLnBrk="1"/>
                      <a:r>
                        <a:rPr lang="ko-KR" altLang="en-US" sz="1600" b="1" dirty="0"/>
                        <a:t>유전생명공학과</a:t>
                      </a:r>
                      <a:endParaRPr lang="en-US" altLang="ko-KR" sz="1600" b="1" dirty="0"/>
                    </a:p>
                    <a:p>
                      <a:pPr algn="l" latinLnBrk="1"/>
                      <a:r>
                        <a:rPr lang="ko-KR" altLang="en-US" sz="1600" b="1" spc="-300" dirty="0" err="1"/>
                        <a:t>환경학및환경공학과</a:t>
                      </a:r>
                      <a:endParaRPr lang="ko-KR" altLang="en-US" sz="1600" b="1" spc="-30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기하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/>
                        <a:t>화학 생명과학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 err="1"/>
                        <a:t>세포와물질대사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 err="1"/>
                        <a:t>생물의유전</a:t>
                      </a:r>
                      <a:endParaRPr lang="ko-KR" altLang="en-US" sz="1300" b="1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endParaRPr lang="ko-KR" altLang="en-US" sz="1300" b="1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1" dirty="0"/>
                        <a:t>물질과 에너지</a:t>
                      </a:r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spc="-150" dirty="0"/>
                        <a:t>화학반응의 세계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en-US" altLang="ko-KR" sz="1000" b="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 b="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 b="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895517"/>
                  </a:ext>
                </a:extLst>
              </a:tr>
              <a:tr h="1064633"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b="1" dirty="0" err="1"/>
                        <a:t>융합바이오신소재공학과</a:t>
                      </a:r>
                      <a:endParaRPr lang="ko-KR" altLang="en-US" sz="1600" b="1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/>
                        <a:t>화학 생명과학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 err="1"/>
                        <a:t>세포와물질대사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 err="1"/>
                        <a:t>생물의유전</a:t>
                      </a:r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dirty="0"/>
                        <a:t>물질과 에너지</a:t>
                      </a:r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spc="-150" dirty="0"/>
                        <a:t>화학반응의 세계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1" dirty="0"/>
                        <a:t>물리학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63601"/>
                  </a:ext>
                </a:extLst>
              </a:tr>
              <a:tr h="869288"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b="1" dirty="0"/>
                        <a:t>지리학과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지구과학</a:t>
                      </a:r>
                      <a:endParaRPr lang="ko-KR" altLang="en-US" sz="1300" b="1" strike="sngStrike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300" b="1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7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화학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spc="-150" dirty="0"/>
                        <a:t>지구과학</a:t>
                      </a:r>
                      <a:r>
                        <a:rPr lang="en-US" altLang="ko-KR" sz="1300" b="0" spc="-150" dirty="0"/>
                        <a:t>Ⅰ</a:t>
                      </a:r>
                      <a:endParaRPr lang="ko-KR" altLang="en-US" sz="1300" b="0" spc="-150" dirty="0"/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0" dirty="0" err="1"/>
                        <a:t>확률과통계</a:t>
                      </a:r>
                      <a:endParaRPr lang="en-US" altLang="ko-KR" sz="1300" b="0" dirty="0"/>
                    </a:p>
                    <a:p>
                      <a:pPr algn="ctr" latinLnBrk="1"/>
                      <a:r>
                        <a:rPr lang="ko-KR" altLang="en-US" sz="1300" b="0" dirty="0"/>
                        <a:t>기하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87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75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624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498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372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879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755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630" algn="l" defTabSz="685750" rtl="0" eaLnBrk="1" latinLnBrk="0" hangingPunct="1">
                        <a:defRPr sz="135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Ⅱ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09234"/>
                  </a:ext>
                </a:extLst>
              </a:tr>
              <a:tr h="8692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우주과학과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/>
                        <a:t>대수 미적분</a:t>
                      </a:r>
                      <a:r>
                        <a:rPr lang="en-US" altLang="ko-KR" sz="1300" b="1" dirty="0"/>
                        <a:t>Ⅰ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</a:t>
                      </a:r>
                      <a:endParaRPr lang="ko-KR" altLang="en-US" sz="1300" b="1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물리학 화학 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/>
                        <a:t>지구과학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역학과 에너지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전자기와 양자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기하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지구시스템과학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행성우주과학 중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과목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136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78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4639F13-ECC0-4592-846A-F3B79A39A6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115826"/>
            <a:ext cx="8302324" cy="830997"/>
          </a:xfrm>
        </p:spPr>
        <p:txBody>
          <a:bodyPr/>
          <a:lstStyle/>
          <a:p>
            <a:r>
              <a:rPr lang="ko-KR" altLang="en-US" dirty="0"/>
              <a:t>경희대</a:t>
            </a:r>
            <a:r>
              <a:rPr lang="en-US" altLang="ko-KR" dirty="0"/>
              <a:t>: 2028 </a:t>
            </a:r>
            <a:r>
              <a:rPr lang="ko-KR" altLang="en-US" dirty="0"/>
              <a:t>자연계열 모집단위 교과 이수 권장 과목 안내</a:t>
            </a:r>
            <a:r>
              <a:rPr lang="en-US" altLang="ko-KR" dirty="0"/>
              <a:t>(</a:t>
            </a:r>
            <a:r>
              <a:rPr lang="ko-KR" altLang="en-US" dirty="0"/>
              <a:t>예고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0E04B85-6745-4337-9CE1-FE79B5DA9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60305"/>
              </p:ext>
            </p:extLst>
          </p:nvPr>
        </p:nvGraphicFramePr>
        <p:xfrm>
          <a:off x="295929" y="1028139"/>
          <a:ext cx="11600142" cy="5714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980">
                  <a:extLst>
                    <a:ext uri="{9D8B030D-6E8A-4147-A177-3AD203B41FA5}">
                      <a16:colId xmlns:a16="http://schemas.microsoft.com/office/drawing/2014/main" val="779111135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466732905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420835219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3533148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491288021"/>
                    </a:ext>
                  </a:extLst>
                </a:gridCol>
                <a:gridCol w="1075167">
                  <a:extLst>
                    <a:ext uri="{9D8B030D-6E8A-4147-A177-3AD203B41FA5}">
                      <a16:colId xmlns:a16="http://schemas.microsoft.com/office/drawing/2014/main" val="439794593"/>
                    </a:ext>
                  </a:extLst>
                </a:gridCol>
                <a:gridCol w="1138518">
                  <a:extLst>
                    <a:ext uri="{9D8B030D-6E8A-4147-A177-3AD203B41FA5}">
                      <a16:colId xmlns:a16="http://schemas.microsoft.com/office/drawing/2014/main" val="326623763"/>
                    </a:ext>
                  </a:extLst>
                </a:gridCol>
                <a:gridCol w="1179755">
                  <a:extLst>
                    <a:ext uri="{9D8B030D-6E8A-4147-A177-3AD203B41FA5}">
                      <a16:colId xmlns:a16="http://schemas.microsoft.com/office/drawing/2014/main" val="3520661893"/>
                    </a:ext>
                  </a:extLst>
                </a:gridCol>
                <a:gridCol w="1239522">
                  <a:extLst>
                    <a:ext uri="{9D8B030D-6E8A-4147-A177-3AD203B41FA5}">
                      <a16:colId xmlns:a16="http://schemas.microsoft.com/office/drawing/2014/main" val="3097105654"/>
                    </a:ext>
                  </a:extLst>
                </a:gridCol>
              </a:tblGrid>
              <a:tr h="4661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모집단위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변경</a:t>
                      </a:r>
                      <a:r>
                        <a:rPr lang="en-US" altLang="ko-KR" sz="1600" dirty="0"/>
                        <a:t>(2022 </a:t>
                      </a:r>
                      <a:r>
                        <a:rPr lang="ko-KR" altLang="en-US" sz="1600" dirty="0"/>
                        <a:t>개정 교육과정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기존</a:t>
                      </a:r>
                      <a:r>
                        <a:rPr lang="en-US" altLang="ko-KR" sz="1600" dirty="0"/>
                        <a:t>(2015 </a:t>
                      </a:r>
                      <a:r>
                        <a:rPr lang="ko-KR" altLang="en-US" sz="1600" dirty="0"/>
                        <a:t>개정 교육과정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522986"/>
                  </a:ext>
                </a:extLst>
              </a:tr>
              <a:tr h="4661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핵심과목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764416"/>
                  </a:ext>
                </a:extLst>
              </a:tr>
              <a:tr h="7200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054753"/>
                  </a:ext>
                </a:extLst>
              </a:tr>
              <a:tr h="81876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원자력공학과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신소재공학과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</a:t>
                      </a:r>
                      <a:r>
                        <a:rPr lang="en-US" altLang="ko-KR" sz="1300" b="1" dirty="0"/>
                        <a:t> </a:t>
                      </a:r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Ⅰ</a:t>
                      </a: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 </a:t>
                      </a:r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물리학 화학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역학과 에너지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전자기와 양자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화학반응의 세계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화학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화학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확률과 통계 기하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물리학 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629856"/>
                  </a:ext>
                </a:extLst>
              </a:tr>
              <a:tr h="81876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화학공학과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</a:t>
                      </a:r>
                      <a:r>
                        <a:rPr lang="en-US" altLang="ko-KR" sz="1300" b="1" dirty="0"/>
                        <a:t> </a:t>
                      </a:r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Ⅰ</a:t>
                      </a: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물리학 화학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화학 반응의 세계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기하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역학과 에너지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전자기와 양자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3914748"/>
                  </a:ext>
                </a:extLst>
              </a:tr>
              <a:tr h="11440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한의예과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치의예과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</a:t>
                      </a:r>
                      <a:r>
                        <a:rPr lang="en-US" altLang="ko-KR" sz="1300" b="1" dirty="0"/>
                        <a:t> </a:t>
                      </a:r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Ⅰ</a:t>
                      </a: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화학 생명과학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생물의 유전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물리학</a:t>
                      </a:r>
                      <a:endParaRPr lang="en-US" altLang="ko-KR" sz="1300" b="1" dirty="0"/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화학반응의 세계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1300" b="1" dirty="0">
                          <a:solidFill>
                            <a:srgbClr val="0070C0"/>
                          </a:solidFill>
                        </a:rPr>
                        <a:t>중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ko-KR" altLang="en-US" sz="1300" b="1" dirty="0">
                          <a:solidFill>
                            <a:srgbClr val="0070C0"/>
                          </a:solidFill>
                        </a:rPr>
                        <a:t>과목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</a:rPr>
                        <a:t>]</a:t>
                      </a:r>
                      <a:endParaRPr lang="ko-KR" altLang="en-US" sz="13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화학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생명과학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생명과학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물리학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화학</a:t>
                      </a:r>
                      <a:r>
                        <a:rPr lang="en-US" altLang="ko-KR" sz="1300" b="0" dirty="0"/>
                        <a:t>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895517"/>
                  </a:ext>
                </a:extLst>
              </a:tr>
              <a:tr h="586695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의예과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</a:t>
                      </a:r>
                      <a:r>
                        <a:rPr lang="en-US" altLang="ko-KR" sz="1300" b="1" dirty="0"/>
                        <a:t> </a:t>
                      </a:r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Ⅰ</a:t>
                      </a: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</a:t>
                      </a: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화학 생명과학</a:t>
                      </a:r>
                      <a:endParaRPr lang="en-US" altLang="ko-KR" sz="13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화학반응의 세계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생물의 유전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0070C0"/>
                          </a:solidFill>
                        </a:rPr>
                        <a:t>중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</a:rPr>
                        <a:t>3</a:t>
                      </a:r>
                      <a:r>
                        <a:rPr lang="ko-KR" altLang="en-US" sz="1300" b="1" dirty="0">
                          <a:solidFill>
                            <a:srgbClr val="0070C0"/>
                          </a:solidFill>
                        </a:rPr>
                        <a:t>과목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</a:rPr>
                        <a:t>]</a:t>
                      </a:r>
                      <a:endParaRPr lang="ko-KR" altLang="en-US" sz="13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363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301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4639F13-ECC0-4592-846A-F3B79A39A6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115826"/>
            <a:ext cx="8302324" cy="830997"/>
          </a:xfrm>
        </p:spPr>
        <p:txBody>
          <a:bodyPr/>
          <a:lstStyle/>
          <a:p>
            <a:r>
              <a:rPr lang="ko-KR" altLang="en-US" dirty="0"/>
              <a:t>경희대</a:t>
            </a:r>
            <a:r>
              <a:rPr lang="en-US" altLang="ko-KR" dirty="0"/>
              <a:t>: 2028 </a:t>
            </a:r>
            <a:r>
              <a:rPr lang="ko-KR" altLang="en-US" dirty="0"/>
              <a:t>자연계열 모집단위 교과 이수 권장 과목 안내</a:t>
            </a:r>
            <a:r>
              <a:rPr lang="en-US" altLang="ko-KR" dirty="0"/>
              <a:t>(</a:t>
            </a:r>
            <a:r>
              <a:rPr lang="ko-KR" altLang="en-US" dirty="0"/>
              <a:t>예고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0E04B85-6745-4337-9CE1-FE79B5DA9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179736"/>
              </p:ext>
            </p:extLst>
          </p:nvPr>
        </p:nvGraphicFramePr>
        <p:xfrm>
          <a:off x="276900" y="1517690"/>
          <a:ext cx="11600142" cy="3249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980">
                  <a:extLst>
                    <a:ext uri="{9D8B030D-6E8A-4147-A177-3AD203B41FA5}">
                      <a16:colId xmlns:a16="http://schemas.microsoft.com/office/drawing/2014/main" val="779111135"/>
                    </a:ext>
                  </a:extLst>
                </a:gridCol>
                <a:gridCol w="1447177">
                  <a:extLst>
                    <a:ext uri="{9D8B030D-6E8A-4147-A177-3AD203B41FA5}">
                      <a16:colId xmlns:a16="http://schemas.microsoft.com/office/drawing/2014/main" val="2466732905"/>
                    </a:ext>
                  </a:extLst>
                </a:gridCol>
                <a:gridCol w="1522531">
                  <a:extLst>
                    <a:ext uri="{9D8B030D-6E8A-4147-A177-3AD203B41FA5}">
                      <a16:colId xmlns:a16="http://schemas.microsoft.com/office/drawing/2014/main" val="4208352197"/>
                    </a:ext>
                  </a:extLst>
                </a:gridCol>
                <a:gridCol w="1043492">
                  <a:extLst>
                    <a:ext uri="{9D8B030D-6E8A-4147-A177-3AD203B41FA5}">
                      <a16:colId xmlns:a16="http://schemas.microsoft.com/office/drawing/2014/main" val="383533148"/>
                    </a:ext>
                  </a:extLst>
                </a:gridCol>
                <a:gridCol w="1430767">
                  <a:extLst>
                    <a:ext uri="{9D8B030D-6E8A-4147-A177-3AD203B41FA5}">
                      <a16:colId xmlns:a16="http://schemas.microsoft.com/office/drawing/2014/main" val="1491288021"/>
                    </a:ext>
                  </a:extLst>
                </a:gridCol>
                <a:gridCol w="1149873">
                  <a:extLst>
                    <a:ext uri="{9D8B030D-6E8A-4147-A177-3AD203B41FA5}">
                      <a16:colId xmlns:a16="http://schemas.microsoft.com/office/drawing/2014/main" val="439794593"/>
                    </a:ext>
                  </a:extLst>
                </a:gridCol>
                <a:gridCol w="1189915">
                  <a:extLst>
                    <a:ext uri="{9D8B030D-6E8A-4147-A177-3AD203B41FA5}">
                      <a16:colId xmlns:a16="http://schemas.microsoft.com/office/drawing/2014/main" val="326623763"/>
                    </a:ext>
                  </a:extLst>
                </a:gridCol>
                <a:gridCol w="1107226">
                  <a:extLst>
                    <a:ext uri="{9D8B030D-6E8A-4147-A177-3AD203B41FA5}">
                      <a16:colId xmlns:a16="http://schemas.microsoft.com/office/drawing/2014/main" val="3520661893"/>
                    </a:ext>
                  </a:extLst>
                </a:gridCol>
                <a:gridCol w="1025181">
                  <a:extLst>
                    <a:ext uri="{9D8B030D-6E8A-4147-A177-3AD203B41FA5}">
                      <a16:colId xmlns:a16="http://schemas.microsoft.com/office/drawing/2014/main" val="3097105654"/>
                    </a:ext>
                  </a:extLst>
                </a:gridCol>
              </a:tblGrid>
              <a:tr h="29985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모집단위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변경</a:t>
                      </a:r>
                      <a:r>
                        <a:rPr lang="en-US" altLang="ko-KR" sz="1600" dirty="0"/>
                        <a:t>(2022 </a:t>
                      </a:r>
                      <a:r>
                        <a:rPr lang="ko-KR" altLang="en-US" sz="1600" dirty="0"/>
                        <a:t>개정 교육과정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기존</a:t>
                      </a:r>
                      <a:r>
                        <a:rPr lang="en-US" altLang="ko-KR" sz="1600" dirty="0"/>
                        <a:t>(2015 </a:t>
                      </a:r>
                      <a:r>
                        <a:rPr lang="ko-KR" altLang="en-US" sz="1600" dirty="0"/>
                        <a:t>개정 교육과정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522986"/>
                  </a:ext>
                </a:extLst>
              </a:tr>
              <a:tr h="29985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핵심과목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핵심과목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764416"/>
                  </a:ext>
                </a:extLst>
              </a:tr>
              <a:tr h="5179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054753"/>
                  </a:ext>
                </a:extLst>
              </a:tr>
              <a:tr h="7812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약학과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약과학과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한약학과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</a:t>
                      </a:r>
                      <a:r>
                        <a:rPr lang="en-US" altLang="ko-KR" sz="1300" b="1" dirty="0"/>
                        <a:t> </a:t>
                      </a:r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Ⅰ</a:t>
                      </a: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Ⅱ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화학 생명과학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화학반응의 세계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생물의 유전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0070C0"/>
                          </a:solidFill>
                        </a:rPr>
                        <a:t>중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</a:rPr>
                        <a:t>3</a:t>
                      </a:r>
                      <a:r>
                        <a:rPr lang="ko-KR" altLang="en-US" sz="1300" b="1" dirty="0">
                          <a:solidFill>
                            <a:srgbClr val="0070C0"/>
                          </a:solidFill>
                        </a:rPr>
                        <a:t>과목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</a:rPr>
                        <a:t>]</a:t>
                      </a:r>
                      <a:endParaRPr lang="ko-KR" altLang="en-US" sz="13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/>
                        <a:t>-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물리학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화학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/>
                        <a:t>화학</a:t>
                      </a:r>
                      <a:r>
                        <a:rPr lang="en-US" altLang="ko-KR" sz="1300" b="0" dirty="0"/>
                        <a:t>Ⅱ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생명과학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생명과학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  <a:endParaRPr lang="en-US" altLang="ko-KR" sz="1300" b="0" dirty="0"/>
                    </a:p>
                    <a:p>
                      <a:pPr algn="ctr" latinLnBrk="1"/>
                      <a:r>
                        <a:rPr lang="ko-KR" altLang="en-US" sz="1300" b="0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물리학</a:t>
                      </a:r>
                      <a:r>
                        <a:rPr lang="en-US" altLang="ko-KR" sz="1300" b="0" dirty="0"/>
                        <a:t>Ⅰ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629856"/>
                  </a:ext>
                </a:extLst>
              </a:tr>
              <a:tr h="7812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1" dirty="0"/>
                        <a:t>간호학과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대수</a:t>
                      </a:r>
                      <a:r>
                        <a:rPr lang="en-US" altLang="ko-KR" sz="1300" b="1" dirty="0"/>
                        <a:t> </a:t>
                      </a:r>
                      <a:r>
                        <a:rPr lang="ko-KR" altLang="en-US" sz="1300" b="1" dirty="0"/>
                        <a:t>미적분 </a:t>
                      </a:r>
                      <a:r>
                        <a:rPr lang="en-US" altLang="ko-KR" sz="1300" b="1" dirty="0"/>
                        <a:t>Ⅰ</a:t>
                      </a: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확률과 통계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생명과학</a:t>
                      </a:r>
                      <a:endParaRPr lang="en-US" altLang="ko-KR" sz="1300" b="1" dirty="0"/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생물의 유전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미적분</a:t>
                      </a:r>
                      <a:r>
                        <a:rPr lang="en-US" altLang="ko-KR" sz="1300" b="1" dirty="0"/>
                        <a:t>Ⅱ</a:t>
                      </a:r>
                      <a:endParaRPr lang="ko-KR" altLang="en-US" sz="13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화학</a:t>
                      </a:r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화학반응의 세계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Ⅰ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수학 </a:t>
                      </a:r>
                      <a:r>
                        <a:rPr lang="en-US" altLang="ko-KR" sz="1300" b="0" dirty="0"/>
                        <a:t>Ⅱ 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생명과학</a:t>
                      </a:r>
                      <a:r>
                        <a:rPr lang="en-US" altLang="ko-KR" sz="1300" b="0" dirty="0"/>
                        <a:t>Ⅰ</a:t>
                      </a:r>
                    </a:p>
                    <a:p>
                      <a:pPr algn="ctr" latinLnBrk="1"/>
                      <a:r>
                        <a:rPr lang="ko-KR" altLang="en-US" sz="1300" b="0" dirty="0"/>
                        <a:t>생명과학</a:t>
                      </a:r>
                      <a:r>
                        <a:rPr lang="en-US" altLang="ko-KR" sz="1300" b="0" dirty="0"/>
                        <a:t>Ⅱ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미적분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8955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F187CD-4F8D-4EFB-8032-E0B0EEFE8657}"/>
              </a:ext>
            </a:extLst>
          </p:cNvPr>
          <p:cNvSpPr txBox="1"/>
          <p:nvPr/>
        </p:nvSpPr>
        <p:spPr>
          <a:xfrm>
            <a:off x="340659" y="4975412"/>
            <a:ext cx="11536383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※ </a:t>
            </a:r>
            <a:r>
              <a:rPr lang="ko-KR" altLang="en-US" b="1" dirty="0"/>
              <a:t>이수 과목 수에 따른 정량적 가</a:t>
            </a:r>
            <a:r>
              <a:rPr lang="en-US" altLang="ko-KR" b="1" dirty="0"/>
              <a:t>/</a:t>
            </a:r>
            <a:r>
              <a:rPr lang="ko-KR" altLang="en-US" b="1" dirty="0"/>
              <a:t>감점 평가는 하지 않음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※ </a:t>
            </a:r>
            <a:r>
              <a:rPr lang="ko-KR" altLang="en-US" b="1" dirty="0"/>
              <a:t>정시모집에서는 고교 교육과정의 충실한 이수를 위해 수능전형에서 학생부 교과 이수 현황을 반영함</a:t>
            </a:r>
            <a:r>
              <a:rPr lang="en-US" altLang="ko-KR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※ </a:t>
            </a:r>
            <a:r>
              <a:rPr lang="ko-KR" altLang="en-US" b="1" dirty="0"/>
              <a:t>정시모집</a:t>
            </a:r>
            <a:r>
              <a:rPr lang="en-US" altLang="ko-KR" b="1" dirty="0"/>
              <a:t>: </a:t>
            </a:r>
            <a:r>
              <a:rPr lang="ko-KR" altLang="en-US" b="1" dirty="0"/>
              <a:t>수학교과 </a:t>
            </a:r>
            <a:r>
              <a:rPr lang="en-US" altLang="ko-KR" b="1" dirty="0"/>
              <a:t>5</a:t>
            </a:r>
            <a:r>
              <a:rPr lang="ko-KR" altLang="en-US" b="1" dirty="0"/>
              <a:t>과목</a:t>
            </a:r>
            <a:r>
              <a:rPr lang="en-US" altLang="ko-KR" b="1" dirty="0"/>
              <a:t>(</a:t>
            </a:r>
            <a:r>
              <a:rPr lang="ko-KR" altLang="en-US" b="1" dirty="0"/>
              <a:t>또는 </a:t>
            </a:r>
            <a:r>
              <a:rPr lang="en-US" altLang="ko-KR" b="1" dirty="0"/>
              <a:t>18</a:t>
            </a:r>
            <a:r>
              <a:rPr lang="ko-KR" altLang="en-US" b="1" dirty="0"/>
              <a:t>학점</a:t>
            </a:r>
            <a:r>
              <a:rPr lang="en-US" altLang="ko-KR" b="1" dirty="0"/>
              <a:t>)</a:t>
            </a:r>
            <a:r>
              <a:rPr lang="ko-KR" altLang="en-US" b="1" dirty="0"/>
              <a:t> 이상 이수</a:t>
            </a:r>
            <a:r>
              <a:rPr lang="en-US" altLang="ko-KR" b="1" dirty="0"/>
              <a:t>, </a:t>
            </a:r>
            <a:r>
              <a:rPr lang="ko-KR" altLang="en-US" b="1" dirty="0"/>
              <a:t>과학교과 </a:t>
            </a:r>
            <a:r>
              <a:rPr lang="en-US" altLang="ko-KR" b="1" dirty="0"/>
              <a:t>6</a:t>
            </a:r>
            <a:r>
              <a:rPr lang="ko-KR" altLang="en-US" b="1" dirty="0"/>
              <a:t>과목</a:t>
            </a:r>
            <a:r>
              <a:rPr lang="en-US" altLang="ko-KR" b="1" dirty="0"/>
              <a:t>(</a:t>
            </a:r>
            <a:r>
              <a:rPr lang="ko-KR" altLang="en-US" b="1" dirty="0"/>
              <a:t>또는 </a:t>
            </a:r>
            <a:r>
              <a:rPr lang="en-US" altLang="ko-KR" b="1" dirty="0"/>
              <a:t>20</a:t>
            </a:r>
            <a:r>
              <a:rPr lang="ko-KR" altLang="en-US" b="1" dirty="0"/>
              <a:t>학점</a:t>
            </a:r>
            <a:r>
              <a:rPr lang="en-US" altLang="ko-KR" b="1" dirty="0"/>
              <a:t>)</a:t>
            </a:r>
            <a:r>
              <a:rPr lang="ko-KR" altLang="en-US" b="1" dirty="0"/>
              <a:t> 이상 이수하면 가점 부여</a:t>
            </a:r>
          </a:p>
        </p:txBody>
      </p:sp>
    </p:spTree>
    <p:extLst>
      <p:ext uri="{BB962C8B-B14F-4D97-AF65-F5344CB8AC3E}">
        <p14:creationId xmlns:p14="http://schemas.microsoft.com/office/powerpoint/2010/main" val="894419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1F3523-7E54-4222-969B-25327A8BBE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고려대학교 대입전형 자연계열 </a:t>
            </a:r>
            <a:r>
              <a:rPr lang="ko-KR" altLang="en-US" dirty="0" err="1"/>
              <a:t>권장이수과목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018607-4DD5-427B-B4FA-D21B8E5E6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137062"/>
              </p:ext>
            </p:extLst>
          </p:nvPr>
        </p:nvGraphicFramePr>
        <p:xfrm>
          <a:off x="427316" y="1203758"/>
          <a:ext cx="10832355" cy="51576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02738">
                  <a:extLst>
                    <a:ext uri="{9D8B030D-6E8A-4147-A177-3AD203B41FA5}">
                      <a16:colId xmlns:a16="http://schemas.microsoft.com/office/drawing/2014/main" val="389130775"/>
                    </a:ext>
                  </a:extLst>
                </a:gridCol>
                <a:gridCol w="821403">
                  <a:extLst>
                    <a:ext uri="{9D8B030D-6E8A-4147-A177-3AD203B41FA5}">
                      <a16:colId xmlns:a16="http://schemas.microsoft.com/office/drawing/2014/main" val="2008540820"/>
                    </a:ext>
                  </a:extLst>
                </a:gridCol>
                <a:gridCol w="3599601">
                  <a:extLst>
                    <a:ext uri="{9D8B030D-6E8A-4147-A177-3AD203B41FA5}">
                      <a16:colId xmlns:a16="http://schemas.microsoft.com/office/drawing/2014/main" val="1250704023"/>
                    </a:ext>
                  </a:extLst>
                </a:gridCol>
                <a:gridCol w="1405875">
                  <a:extLst>
                    <a:ext uri="{9D8B030D-6E8A-4147-A177-3AD203B41FA5}">
                      <a16:colId xmlns:a16="http://schemas.microsoft.com/office/drawing/2014/main" val="1132882603"/>
                    </a:ext>
                  </a:extLst>
                </a:gridCol>
                <a:gridCol w="2502738">
                  <a:extLst>
                    <a:ext uri="{9D8B030D-6E8A-4147-A177-3AD203B41FA5}">
                      <a16:colId xmlns:a16="http://schemas.microsoft.com/office/drawing/2014/main" val="433353700"/>
                    </a:ext>
                  </a:extLst>
                </a:gridCol>
              </a:tblGrid>
              <a:tr h="46249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2022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2015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6407"/>
                  </a:ext>
                </a:extLst>
              </a:tr>
              <a:tr h="4624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진로선택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Ⅰ/Ⅱ)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993872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생명과학부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세포와 물질대사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생물의 유전 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927373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생명공학부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045172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식품공학과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263071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환경생태공학부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804209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976369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물리학과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전자기와 양자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967392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화학반응의 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345737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지구환경과학과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지구시스템과학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행성우주과학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지구과학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784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991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1F3523-7E54-4222-969B-25327A8BBE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고려대학교 대입전형 자연계열 </a:t>
            </a:r>
            <a:r>
              <a:rPr lang="ko-KR" altLang="en-US" dirty="0" err="1"/>
              <a:t>권장이수과목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018607-4DD5-427B-B4FA-D21B8E5E6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856520"/>
              </p:ext>
            </p:extLst>
          </p:nvPr>
        </p:nvGraphicFramePr>
        <p:xfrm>
          <a:off x="499034" y="1081838"/>
          <a:ext cx="10832355" cy="53299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02738">
                  <a:extLst>
                    <a:ext uri="{9D8B030D-6E8A-4147-A177-3AD203B41FA5}">
                      <a16:colId xmlns:a16="http://schemas.microsoft.com/office/drawing/2014/main" val="389130775"/>
                    </a:ext>
                  </a:extLst>
                </a:gridCol>
                <a:gridCol w="821403">
                  <a:extLst>
                    <a:ext uri="{9D8B030D-6E8A-4147-A177-3AD203B41FA5}">
                      <a16:colId xmlns:a16="http://schemas.microsoft.com/office/drawing/2014/main" val="2008540820"/>
                    </a:ext>
                  </a:extLst>
                </a:gridCol>
                <a:gridCol w="3599601">
                  <a:extLst>
                    <a:ext uri="{9D8B030D-6E8A-4147-A177-3AD203B41FA5}">
                      <a16:colId xmlns:a16="http://schemas.microsoft.com/office/drawing/2014/main" val="1250704023"/>
                    </a:ext>
                  </a:extLst>
                </a:gridCol>
                <a:gridCol w="1405875">
                  <a:extLst>
                    <a:ext uri="{9D8B030D-6E8A-4147-A177-3AD203B41FA5}">
                      <a16:colId xmlns:a16="http://schemas.microsoft.com/office/drawing/2014/main" val="1132882603"/>
                    </a:ext>
                  </a:extLst>
                </a:gridCol>
                <a:gridCol w="2502738">
                  <a:extLst>
                    <a:ext uri="{9D8B030D-6E8A-4147-A177-3AD203B41FA5}">
                      <a16:colId xmlns:a16="http://schemas.microsoft.com/office/drawing/2014/main" val="433353700"/>
                    </a:ext>
                  </a:extLst>
                </a:gridCol>
              </a:tblGrid>
              <a:tr h="46249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2022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2015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6407"/>
                  </a:ext>
                </a:extLst>
              </a:tr>
              <a:tr h="4624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진로선택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Ⅰ/Ⅱ)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993872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공과대학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전공자율선택제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세포와 물질대사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생물의 유전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algn="l" latinLnBrk="1"/>
                      <a:r>
                        <a:rPr lang="ko-KR" altLang="en-US" dirty="0"/>
                        <a:t>생명과학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927373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화공생명공학과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역학과 에너지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전자기와 양자</a:t>
                      </a:r>
                      <a:endParaRPr lang="en-US" altLang="ko-KR" b="1" dirty="0">
                        <a:solidFill>
                          <a:srgbClr val="FF0000"/>
                        </a:solidFill>
                      </a:endParaRPr>
                    </a:p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045172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신소재공학부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263071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건축사회환경공학부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역학과 에너지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804209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건축학과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976369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기계공학부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96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14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1F3523-7E54-4222-969B-25327A8BBE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고려대학교 대입전형 자연계열 </a:t>
            </a:r>
            <a:r>
              <a:rPr lang="ko-KR" altLang="en-US" dirty="0" err="1"/>
              <a:t>권장이수과목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018607-4DD5-427B-B4FA-D21B8E5E6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583795"/>
              </p:ext>
            </p:extLst>
          </p:nvPr>
        </p:nvGraphicFramePr>
        <p:xfrm>
          <a:off x="499034" y="1081837"/>
          <a:ext cx="10832355" cy="5202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02738">
                  <a:extLst>
                    <a:ext uri="{9D8B030D-6E8A-4147-A177-3AD203B41FA5}">
                      <a16:colId xmlns:a16="http://schemas.microsoft.com/office/drawing/2014/main" val="389130775"/>
                    </a:ext>
                  </a:extLst>
                </a:gridCol>
                <a:gridCol w="821403">
                  <a:extLst>
                    <a:ext uri="{9D8B030D-6E8A-4147-A177-3AD203B41FA5}">
                      <a16:colId xmlns:a16="http://schemas.microsoft.com/office/drawing/2014/main" val="2008540820"/>
                    </a:ext>
                  </a:extLst>
                </a:gridCol>
                <a:gridCol w="3599601">
                  <a:extLst>
                    <a:ext uri="{9D8B030D-6E8A-4147-A177-3AD203B41FA5}">
                      <a16:colId xmlns:a16="http://schemas.microsoft.com/office/drawing/2014/main" val="1250704023"/>
                    </a:ext>
                  </a:extLst>
                </a:gridCol>
                <a:gridCol w="1405875">
                  <a:extLst>
                    <a:ext uri="{9D8B030D-6E8A-4147-A177-3AD203B41FA5}">
                      <a16:colId xmlns:a16="http://schemas.microsoft.com/office/drawing/2014/main" val="1132882603"/>
                    </a:ext>
                  </a:extLst>
                </a:gridCol>
                <a:gridCol w="2502738">
                  <a:extLst>
                    <a:ext uri="{9D8B030D-6E8A-4147-A177-3AD203B41FA5}">
                      <a16:colId xmlns:a16="http://schemas.microsoft.com/office/drawing/2014/main" val="433353700"/>
                    </a:ext>
                  </a:extLst>
                </a:gridCol>
              </a:tblGrid>
              <a:tr h="47591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2022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2015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6407"/>
                  </a:ext>
                </a:extLst>
              </a:tr>
              <a:tr h="4759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진로선택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Ⅰ/Ⅱ)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993872"/>
                  </a:ext>
                </a:extLst>
              </a:tr>
              <a:tr h="4759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산업경영공학부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927373"/>
                  </a:ext>
                </a:extLst>
              </a:tr>
              <a:tr h="9409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전기전자공학부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화학반응의 세계</a:t>
                      </a:r>
                      <a:endParaRPr lang="en-US" altLang="ko-KR" b="1" dirty="0">
                        <a:solidFill>
                          <a:srgbClr val="FF0000"/>
                        </a:solidFill>
                      </a:endParaRPr>
                    </a:p>
                    <a:p>
                      <a:pPr algn="l" latinLnBrk="1"/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045172"/>
                  </a:ext>
                </a:extLst>
              </a:tr>
              <a:tr h="4759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반도체공학과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263071"/>
                  </a:ext>
                </a:extLst>
              </a:tr>
              <a:tr h="9409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융합에너지공학과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804209"/>
                  </a:ext>
                </a:extLst>
              </a:tr>
              <a:tr h="4759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차세대통신학과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976369"/>
                  </a:ext>
                </a:extLst>
              </a:tr>
              <a:tr h="9409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의과대학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세포와 물질대사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생물의 유전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96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334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1F3523-7E54-4222-969B-25327A8BBE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고려대학교 대입전형 자연계열 </a:t>
            </a:r>
            <a:r>
              <a:rPr lang="ko-KR" altLang="en-US" dirty="0" err="1"/>
              <a:t>권장이수과목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018607-4DD5-427B-B4FA-D21B8E5E6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689761"/>
              </p:ext>
            </p:extLst>
          </p:nvPr>
        </p:nvGraphicFramePr>
        <p:xfrm>
          <a:off x="499034" y="1081837"/>
          <a:ext cx="10832355" cy="53099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02738">
                  <a:extLst>
                    <a:ext uri="{9D8B030D-6E8A-4147-A177-3AD203B41FA5}">
                      <a16:colId xmlns:a16="http://schemas.microsoft.com/office/drawing/2014/main" val="389130775"/>
                    </a:ext>
                  </a:extLst>
                </a:gridCol>
                <a:gridCol w="821403">
                  <a:extLst>
                    <a:ext uri="{9D8B030D-6E8A-4147-A177-3AD203B41FA5}">
                      <a16:colId xmlns:a16="http://schemas.microsoft.com/office/drawing/2014/main" val="2008540820"/>
                    </a:ext>
                  </a:extLst>
                </a:gridCol>
                <a:gridCol w="3599601">
                  <a:extLst>
                    <a:ext uri="{9D8B030D-6E8A-4147-A177-3AD203B41FA5}">
                      <a16:colId xmlns:a16="http://schemas.microsoft.com/office/drawing/2014/main" val="1250704023"/>
                    </a:ext>
                  </a:extLst>
                </a:gridCol>
                <a:gridCol w="1405875">
                  <a:extLst>
                    <a:ext uri="{9D8B030D-6E8A-4147-A177-3AD203B41FA5}">
                      <a16:colId xmlns:a16="http://schemas.microsoft.com/office/drawing/2014/main" val="1132882603"/>
                    </a:ext>
                  </a:extLst>
                </a:gridCol>
                <a:gridCol w="2502738">
                  <a:extLst>
                    <a:ext uri="{9D8B030D-6E8A-4147-A177-3AD203B41FA5}">
                      <a16:colId xmlns:a16="http://schemas.microsoft.com/office/drawing/2014/main" val="433353700"/>
                    </a:ext>
                  </a:extLst>
                </a:gridCol>
              </a:tblGrid>
              <a:tr h="41767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2022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2015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6407"/>
                  </a:ext>
                </a:extLst>
              </a:tr>
              <a:tr h="41767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진로선택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Ⅰ/Ⅱ)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993872"/>
                  </a:ext>
                </a:extLst>
              </a:tr>
              <a:tr h="4176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가정교육과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927373"/>
                  </a:ext>
                </a:extLst>
              </a:tr>
              <a:tr h="5190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045172"/>
                  </a:ext>
                </a:extLst>
              </a:tr>
              <a:tr h="1044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간호대학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세포와 물질대사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생물의 유전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263071"/>
                  </a:ext>
                </a:extLst>
              </a:tr>
              <a:tr h="5190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컴퓨터학과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804209"/>
                  </a:ext>
                </a:extLst>
              </a:tr>
              <a:tr h="4176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데이터과학과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976369"/>
                  </a:ext>
                </a:extLst>
              </a:tr>
              <a:tr h="5190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인공지능학과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967392"/>
                  </a:ext>
                </a:extLst>
              </a:tr>
              <a:tr h="5190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사이버국방학과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977387"/>
                  </a:ext>
                </a:extLst>
              </a:tr>
              <a:tr h="5190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스마트보안학부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51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957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1F3523-7E54-4222-969B-25327A8BBE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고려대학교 대입전형 자연계열 </a:t>
            </a:r>
            <a:r>
              <a:rPr lang="ko-KR" altLang="en-US" dirty="0" err="1"/>
              <a:t>권장이수과목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018607-4DD5-427B-B4FA-D21B8E5E6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028833"/>
              </p:ext>
            </p:extLst>
          </p:nvPr>
        </p:nvGraphicFramePr>
        <p:xfrm>
          <a:off x="499034" y="1081836"/>
          <a:ext cx="10832355" cy="49065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02738">
                  <a:extLst>
                    <a:ext uri="{9D8B030D-6E8A-4147-A177-3AD203B41FA5}">
                      <a16:colId xmlns:a16="http://schemas.microsoft.com/office/drawing/2014/main" val="389130775"/>
                    </a:ext>
                  </a:extLst>
                </a:gridCol>
                <a:gridCol w="821403">
                  <a:extLst>
                    <a:ext uri="{9D8B030D-6E8A-4147-A177-3AD203B41FA5}">
                      <a16:colId xmlns:a16="http://schemas.microsoft.com/office/drawing/2014/main" val="2008540820"/>
                    </a:ext>
                  </a:extLst>
                </a:gridCol>
                <a:gridCol w="3599601">
                  <a:extLst>
                    <a:ext uri="{9D8B030D-6E8A-4147-A177-3AD203B41FA5}">
                      <a16:colId xmlns:a16="http://schemas.microsoft.com/office/drawing/2014/main" val="1250704023"/>
                    </a:ext>
                  </a:extLst>
                </a:gridCol>
                <a:gridCol w="1405875">
                  <a:extLst>
                    <a:ext uri="{9D8B030D-6E8A-4147-A177-3AD203B41FA5}">
                      <a16:colId xmlns:a16="http://schemas.microsoft.com/office/drawing/2014/main" val="1132882603"/>
                    </a:ext>
                  </a:extLst>
                </a:gridCol>
                <a:gridCol w="2502738">
                  <a:extLst>
                    <a:ext uri="{9D8B030D-6E8A-4147-A177-3AD203B41FA5}">
                      <a16:colId xmlns:a16="http://schemas.microsoft.com/office/drawing/2014/main" val="433353700"/>
                    </a:ext>
                  </a:extLst>
                </a:gridCol>
              </a:tblGrid>
              <a:tr h="4088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2022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2015 </a:t>
                      </a:r>
                      <a:r>
                        <a:rPr lang="ko-KR" altLang="en-US" dirty="0"/>
                        <a:t>개정 교육과정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6407"/>
                  </a:ext>
                </a:extLst>
              </a:tr>
              <a:tr h="408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진로선택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Ⅰ/Ⅱ)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993872"/>
                  </a:ext>
                </a:extLst>
              </a:tr>
              <a:tr h="1022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바이오의공학부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927373"/>
                  </a:ext>
                </a:extLst>
              </a:tr>
              <a:tr h="1022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바이오시스템의과학부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세포와 물질대사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생물의 유전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045172"/>
                  </a:ext>
                </a:extLst>
              </a:tr>
              <a:tr h="1022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보건환경융합과학부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세포와 물질대사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생물의 유전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263071"/>
                  </a:ext>
                </a:extLst>
              </a:tr>
              <a:tr h="1022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스마트모빌리티학부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역학과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전자기와 양자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물질과 에너지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화학반응의 세계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中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물리학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804209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6E55A814-A34C-4236-8A7D-13A9D5253DEB}"/>
              </a:ext>
            </a:extLst>
          </p:cNvPr>
          <p:cNvSpPr/>
          <p:nvPr/>
        </p:nvSpPr>
        <p:spPr>
          <a:xfrm>
            <a:off x="499034" y="6140823"/>
            <a:ext cx="10730754" cy="502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200" b="1" dirty="0">
                <a:solidFill>
                  <a:schemeClr val="tx1"/>
                </a:solidFill>
              </a:rPr>
              <a:t>과학 과목 순서는 우선순위가 아님</a:t>
            </a:r>
          </a:p>
        </p:txBody>
      </p:sp>
    </p:spTree>
    <p:extLst>
      <p:ext uri="{BB962C8B-B14F-4D97-AF65-F5344CB8AC3E}">
        <p14:creationId xmlns:p14="http://schemas.microsoft.com/office/powerpoint/2010/main" val="85018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8" y="1159496"/>
            <a:ext cx="11453567" cy="96153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rgbClr val="FF0000"/>
                </a:solidFill>
              </a:rPr>
              <a:t>기초 학업 역량</a:t>
            </a:r>
            <a:r>
              <a:rPr lang="ko-KR" altLang="en-US" b="1" dirty="0">
                <a:solidFill>
                  <a:schemeClr val="tx1"/>
                </a:solidFill>
              </a:rPr>
              <a:t>을 기반으로 한 전공 관련 </a:t>
            </a:r>
            <a:r>
              <a:rPr lang="ko-KR" altLang="en-US" sz="2000" b="1" dirty="0">
                <a:solidFill>
                  <a:srgbClr val="FF0000"/>
                </a:solidFill>
              </a:rPr>
              <a:t>소양</a:t>
            </a:r>
            <a:r>
              <a:rPr lang="ko-KR" altLang="en-US" b="1" dirty="0">
                <a:solidFill>
                  <a:schemeClr val="tx1"/>
                </a:solidFill>
              </a:rPr>
              <a:t>이 필요함에 따라 교과 영역 이수가 </a:t>
            </a:r>
            <a:r>
              <a:rPr lang="ko-KR" altLang="en-US" b="1" dirty="0">
                <a:solidFill>
                  <a:srgbClr val="FF0000"/>
                </a:solidFill>
              </a:rPr>
              <a:t>필수는 아님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상경계열 학과</a:t>
            </a:r>
            <a:r>
              <a:rPr lang="en-US" altLang="ko-KR" b="1" dirty="0">
                <a:solidFill>
                  <a:schemeClr val="tx1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수학</a:t>
            </a:r>
            <a:r>
              <a:rPr lang="ko-KR" altLang="en-US" b="1" dirty="0">
                <a:solidFill>
                  <a:schemeClr val="tx1"/>
                </a:solidFill>
              </a:rPr>
              <a:t> 영역을 전공 관련 교과영역으로 설정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E92E19-C619-4C5F-BB2E-530210DA0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752694"/>
              </p:ext>
            </p:extLst>
          </p:nvPr>
        </p:nvGraphicFramePr>
        <p:xfrm>
          <a:off x="488098" y="2390264"/>
          <a:ext cx="11351968" cy="3916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782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8154186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전공관련 교과영역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자체 기준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불교학부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문화유산학과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한문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국어국문∙문예창작학부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한문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영어영문학부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일본어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60046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중어중문학과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중국어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225973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철학과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한문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철학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922110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한문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17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961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8" y="1159496"/>
            <a:ext cx="11453567" cy="96153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rgbClr val="FF0000"/>
                </a:solidFill>
              </a:rPr>
              <a:t>기초 학업 역량</a:t>
            </a:r>
            <a:r>
              <a:rPr lang="ko-KR" altLang="en-US" b="1" dirty="0">
                <a:solidFill>
                  <a:schemeClr val="tx1"/>
                </a:solidFill>
              </a:rPr>
              <a:t>을 기반으로 한 전공 관련 </a:t>
            </a:r>
            <a:r>
              <a:rPr lang="ko-KR" altLang="en-US" sz="2000" b="1" dirty="0">
                <a:solidFill>
                  <a:srgbClr val="FF0000"/>
                </a:solidFill>
              </a:rPr>
              <a:t>소양</a:t>
            </a:r>
            <a:r>
              <a:rPr lang="ko-KR" altLang="en-US" b="1" dirty="0">
                <a:solidFill>
                  <a:schemeClr val="tx1"/>
                </a:solidFill>
              </a:rPr>
              <a:t>이 필요함에 따라 교과 영역 이수가 </a:t>
            </a:r>
            <a:r>
              <a:rPr lang="ko-KR" altLang="en-US" b="1" dirty="0">
                <a:solidFill>
                  <a:srgbClr val="FF0000"/>
                </a:solidFill>
              </a:rPr>
              <a:t>필수는 아님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상경계열 학과</a:t>
            </a:r>
            <a:r>
              <a:rPr lang="en-US" altLang="ko-KR" b="1" dirty="0">
                <a:solidFill>
                  <a:schemeClr val="tx1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수학</a:t>
            </a:r>
            <a:r>
              <a:rPr lang="ko-KR" altLang="en-US" b="1" dirty="0">
                <a:solidFill>
                  <a:schemeClr val="tx1"/>
                </a:solidFill>
              </a:rPr>
              <a:t> 영역을 전공 관련 교과영역으로 설정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E92E19-C619-4C5F-BB2E-530210DA0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709668"/>
              </p:ext>
            </p:extLst>
          </p:nvPr>
        </p:nvGraphicFramePr>
        <p:xfrm>
          <a:off x="488098" y="2390264"/>
          <a:ext cx="11351968" cy="3916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782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8154186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전공관련 교과영역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자체 기준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법학과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정치와 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정치외교학전공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정치와 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행정학전공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정치와 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북한학전공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경제학과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60046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국제통상학과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225973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사회학전공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922110"/>
                  </a:ext>
                </a:extLst>
              </a:tr>
              <a:tr h="435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미디어커뮤니케이션학전공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17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649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8" y="1159496"/>
            <a:ext cx="11453567" cy="96153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rgbClr val="FF0000"/>
                </a:solidFill>
              </a:rPr>
              <a:t>기초 학업 역량</a:t>
            </a:r>
            <a:r>
              <a:rPr lang="ko-KR" altLang="en-US" b="1" dirty="0">
                <a:solidFill>
                  <a:schemeClr val="tx1"/>
                </a:solidFill>
              </a:rPr>
              <a:t>을 기반으로 한 전공 관련 </a:t>
            </a:r>
            <a:r>
              <a:rPr lang="ko-KR" altLang="en-US" sz="2000" b="1" dirty="0">
                <a:solidFill>
                  <a:srgbClr val="FF0000"/>
                </a:solidFill>
              </a:rPr>
              <a:t>소양</a:t>
            </a:r>
            <a:r>
              <a:rPr lang="ko-KR" altLang="en-US" b="1" dirty="0">
                <a:solidFill>
                  <a:schemeClr val="tx1"/>
                </a:solidFill>
              </a:rPr>
              <a:t>이 필요함에 따라 교과 영역 이수가 </a:t>
            </a:r>
            <a:r>
              <a:rPr lang="ko-KR" altLang="en-US" b="1" dirty="0">
                <a:solidFill>
                  <a:srgbClr val="FF0000"/>
                </a:solidFill>
              </a:rPr>
              <a:t>필수는 아님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상경계열 학과</a:t>
            </a:r>
            <a:r>
              <a:rPr lang="en-US" altLang="ko-KR" b="1" dirty="0">
                <a:solidFill>
                  <a:schemeClr val="tx1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수학</a:t>
            </a:r>
            <a:r>
              <a:rPr lang="ko-KR" altLang="en-US" b="1" dirty="0">
                <a:solidFill>
                  <a:schemeClr val="tx1"/>
                </a:solidFill>
              </a:rPr>
              <a:t> 영역을 전공 관련 교과영역으로 설정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E92E19-C619-4C5F-BB2E-530210DA0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22951"/>
              </p:ext>
            </p:extLst>
          </p:nvPr>
        </p:nvGraphicFramePr>
        <p:xfrm>
          <a:off x="488098" y="2390264"/>
          <a:ext cx="11351968" cy="3727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333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8804635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전공관련 교과영역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자체 기준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식품산업관리학과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광고홍보학과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사회복지학과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경찰행정학부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경영학과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6004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회계학과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225973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경영정보학과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92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347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8" y="1159496"/>
            <a:ext cx="11453567" cy="96153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rgbClr val="FF0000"/>
                </a:solidFill>
              </a:rPr>
              <a:t>기초 학업 역량</a:t>
            </a:r>
            <a:r>
              <a:rPr lang="ko-KR" altLang="en-US" b="1" dirty="0">
                <a:solidFill>
                  <a:schemeClr val="tx1"/>
                </a:solidFill>
              </a:rPr>
              <a:t>을 기반으로 한 전공 관련 </a:t>
            </a:r>
            <a:r>
              <a:rPr lang="ko-KR" altLang="en-US" sz="2000" b="1" dirty="0">
                <a:solidFill>
                  <a:srgbClr val="FF0000"/>
                </a:solidFill>
              </a:rPr>
              <a:t>소양</a:t>
            </a:r>
            <a:r>
              <a:rPr lang="ko-KR" altLang="en-US" b="1" dirty="0">
                <a:solidFill>
                  <a:schemeClr val="tx1"/>
                </a:solidFill>
              </a:rPr>
              <a:t>이 필요함에 따라 교과 영역 이수가 </a:t>
            </a:r>
            <a:r>
              <a:rPr lang="ko-KR" altLang="en-US" b="1" dirty="0">
                <a:solidFill>
                  <a:srgbClr val="FF0000"/>
                </a:solidFill>
              </a:rPr>
              <a:t>필수는 아님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상경계열 학과</a:t>
            </a:r>
            <a:r>
              <a:rPr lang="en-US" altLang="ko-KR" b="1" dirty="0">
                <a:solidFill>
                  <a:schemeClr val="tx1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수학</a:t>
            </a:r>
            <a:r>
              <a:rPr lang="ko-KR" altLang="en-US" b="1" dirty="0">
                <a:solidFill>
                  <a:schemeClr val="tx1"/>
                </a:solidFill>
              </a:rPr>
              <a:t> 영역을 전공 관련 교과영역으로 설정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E92E19-C619-4C5F-BB2E-530210DA0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77164"/>
              </p:ext>
            </p:extLst>
          </p:nvPr>
        </p:nvGraphicFramePr>
        <p:xfrm>
          <a:off x="488098" y="2390264"/>
          <a:ext cx="11351968" cy="3727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257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7635711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전공관련 교과영역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자체 기준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교육학과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국어교육과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역사교육과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역사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지리교육과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연극학부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6004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영화영상학과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225973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열린전공학부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인문</a:t>
                      </a:r>
                      <a:r>
                        <a:rPr lang="en-US" altLang="ko-KR" dirty="0"/>
                        <a:t>)[2025 </a:t>
                      </a:r>
                      <a:r>
                        <a:rPr lang="ko-KR" altLang="en-US" dirty="0"/>
                        <a:t>신설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사회문화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윤리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제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외국어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92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33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9" y="1159495"/>
            <a:ext cx="11182286" cy="2111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FF0000"/>
                </a:solidFill>
              </a:rPr>
              <a:t>수학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과학</a:t>
            </a:r>
            <a:r>
              <a:rPr lang="ko-KR" altLang="en-US" sz="1600" b="1" dirty="0">
                <a:solidFill>
                  <a:schemeClr val="tx1"/>
                </a:solidFill>
              </a:rPr>
              <a:t>의 기초학업역량이 곧 전공 수학 역량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수학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미적분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확률과 통계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기하</a:t>
            </a:r>
            <a:r>
              <a:rPr lang="en-US" altLang="ko-KR" sz="1600" b="1" dirty="0">
                <a:solidFill>
                  <a:schemeClr val="tx1"/>
                </a:solidFill>
              </a:rPr>
              <a:t>), </a:t>
            </a:r>
            <a:r>
              <a:rPr lang="ko-KR" altLang="en-US" sz="1600" b="1" dirty="0">
                <a:solidFill>
                  <a:schemeClr val="tx1"/>
                </a:solidFill>
              </a:rPr>
              <a:t>과학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물리학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화학 등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중심의 이수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 err="1">
                <a:solidFill>
                  <a:schemeClr val="tx1"/>
                </a:solidFill>
              </a:rPr>
              <a:t>무전공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광역화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모집단위</a:t>
            </a:r>
            <a:r>
              <a:rPr lang="en-US" altLang="ko-KR" sz="1600" b="1" dirty="0">
                <a:solidFill>
                  <a:schemeClr val="tx1"/>
                </a:solidFill>
              </a:rPr>
              <a:t>-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단과대학 모집</a:t>
            </a:r>
            <a:r>
              <a:rPr lang="en-US" altLang="ko-KR" sz="1600" b="1" dirty="0">
                <a:solidFill>
                  <a:schemeClr val="tx1"/>
                </a:solidFill>
              </a:rPr>
              <a:t>): </a:t>
            </a:r>
            <a:r>
              <a:rPr lang="ko-KR" altLang="en-US" sz="1600" b="1" dirty="0">
                <a:solidFill>
                  <a:srgbClr val="FF0000"/>
                </a:solidFill>
              </a:rPr>
              <a:t>과학교과 중심의 탐구 역량</a:t>
            </a:r>
            <a:r>
              <a:rPr lang="en-US" altLang="ko-KR" sz="1600" b="1" dirty="0">
                <a:solidFill>
                  <a:srgbClr val="FF0000"/>
                </a:solidFill>
              </a:rPr>
              <a:t>+</a:t>
            </a:r>
            <a:r>
              <a:rPr lang="ko-KR" altLang="en-US" sz="1600" b="1" dirty="0">
                <a:solidFill>
                  <a:srgbClr val="FF0000"/>
                </a:solidFill>
              </a:rPr>
              <a:t>수학 교과 중심의 소양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  - </a:t>
            </a:r>
            <a:r>
              <a:rPr lang="ko-KR" altLang="en-US" sz="1600" b="1" dirty="0">
                <a:solidFill>
                  <a:schemeClr val="tx1"/>
                </a:solidFill>
              </a:rPr>
              <a:t>입학 후 선택 가능한 학과로의 진로 탐색을 위한 관련 역량 필요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최종합격자의 이수 현황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화학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물리학 영역의 이수 비율이 높음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선택 가능 학과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ko-KR" altLang="en-US" sz="1600" b="1" dirty="0">
                <a:solidFill>
                  <a:schemeClr val="tx1"/>
                </a:solidFill>
              </a:rPr>
              <a:t> 내 </a:t>
            </a:r>
            <a:r>
              <a:rPr lang="en-US" altLang="ko-KR" sz="1600" b="1" dirty="0">
                <a:solidFill>
                  <a:schemeClr val="tx1"/>
                </a:solidFill>
              </a:rPr>
              <a:t>4</a:t>
            </a:r>
            <a:r>
              <a:rPr lang="ko-KR" altLang="en-US" sz="1600" b="1" dirty="0">
                <a:solidFill>
                  <a:schemeClr val="tx1"/>
                </a:solidFill>
              </a:rPr>
              <a:t>개 학과 중 선택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E3553B-1EEC-47ED-B8CF-940EA916A91F}"/>
              </a:ext>
            </a:extLst>
          </p:cNvPr>
          <p:cNvGraphicFramePr>
            <a:graphicFrameLocks noGrp="1"/>
          </p:cNvGraphicFramePr>
          <p:nvPr/>
        </p:nvGraphicFramePr>
        <p:xfrm>
          <a:off x="488098" y="3483773"/>
          <a:ext cx="11182286" cy="2329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709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7521577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전공관련 교과영역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자체 기준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물리학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통계학과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물리학과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물리학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446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9" y="1159495"/>
            <a:ext cx="11182286" cy="2111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FF0000"/>
                </a:solidFill>
              </a:rPr>
              <a:t>수학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과학</a:t>
            </a:r>
            <a:r>
              <a:rPr lang="ko-KR" altLang="en-US" sz="1600" b="1" dirty="0">
                <a:solidFill>
                  <a:schemeClr val="tx1"/>
                </a:solidFill>
              </a:rPr>
              <a:t>의 기초학업역량이 곧 전공 수학 역량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수학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미적분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확률과 통계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기하</a:t>
            </a:r>
            <a:r>
              <a:rPr lang="en-US" altLang="ko-KR" sz="1600" b="1" dirty="0">
                <a:solidFill>
                  <a:schemeClr val="tx1"/>
                </a:solidFill>
              </a:rPr>
              <a:t>), </a:t>
            </a:r>
            <a:r>
              <a:rPr lang="ko-KR" altLang="en-US" sz="1600" b="1" dirty="0">
                <a:solidFill>
                  <a:schemeClr val="tx1"/>
                </a:solidFill>
              </a:rPr>
              <a:t>과학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물리학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화학 등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중심의 이수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 err="1">
                <a:solidFill>
                  <a:schemeClr val="tx1"/>
                </a:solidFill>
              </a:rPr>
              <a:t>무전공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광역화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모집단위</a:t>
            </a:r>
            <a:r>
              <a:rPr lang="en-US" altLang="ko-KR" sz="1600" b="1" dirty="0">
                <a:solidFill>
                  <a:schemeClr val="tx1"/>
                </a:solidFill>
              </a:rPr>
              <a:t>-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단과대학 모집</a:t>
            </a:r>
            <a:r>
              <a:rPr lang="en-US" altLang="ko-KR" sz="1600" b="1" dirty="0">
                <a:solidFill>
                  <a:schemeClr val="tx1"/>
                </a:solidFill>
              </a:rPr>
              <a:t>): </a:t>
            </a:r>
            <a:r>
              <a:rPr lang="ko-KR" altLang="en-US" sz="1600" b="1" dirty="0">
                <a:solidFill>
                  <a:srgbClr val="FF0000"/>
                </a:solidFill>
              </a:rPr>
              <a:t>과학교과 중심의 탐구 역량</a:t>
            </a:r>
            <a:r>
              <a:rPr lang="en-US" altLang="ko-KR" sz="1600" b="1" dirty="0">
                <a:solidFill>
                  <a:srgbClr val="FF0000"/>
                </a:solidFill>
              </a:rPr>
              <a:t>+</a:t>
            </a:r>
            <a:r>
              <a:rPr lang="ko-KR" altLang="en-US" sz="1600" b="1" dirty="0">
                <a:solidFill>
                  <a:srgbClr val="FF0000"/>
                </a:solidFill>
              </a:rPr>
              <a:t>수학 교과 중심의 소양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  - </a:t>
            </a:r>
            <a:r>
              <a:rPr lang="ko-KR" altLang="en-US" sz="1600" b="1" dirty="0">
                <a:solidFill>
                  <a:schemeClr val="tx1"/>
                </a:solidFill>
              </a:rPr>
              <a:t>입학 후 선택 가능한 학과로의 진로 탐색을 위한 관련 역량 필요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최종합격자의 이수 현황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화학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물리학 영역의 이수 비율이 높음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선택 가능 학과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ko-KR" altLang="en-US" sz="1600" b="1" dirty="0">
                <a:solidFill>
                  <a:schemeClr val="tx1"/>
                </a:solidFill>
              </a:rPr>
              <a:t> 내 </a:t>
            </a:r>
            <a:r>
              <a:rPr lang="en-US" altLang="ko-KR" sz="1600" b="1" dirty="0">
                <a:solidFill>
                  <a:schemeClr val="tx1"/>
                </a:solidFill>
              </a:rPr>
              <a:t>4</a:t>
            </a:r>
            <a:r>
              <a:rPr lang="ko-KR" altLang="en-US" sz="1600" b="1" dirty="0">
                <a:solidFill>
                  <a:schemeClr val="tx1"/>
                </a:solidFill>
              </a:rPr>
              <a:t>개 학과 중 선택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E3553B-1EEC-47ED-B8CF-940EA916A91F}"/>
              </a:ext>
            </a:extLst>
          </p:cNvPr>
          <p:cNvGraphicFramePr>
            <a:graphicFrameLocks noGrp="1"/>
          </p:cNvGraphicFramePr>
          <p:nvPr/>
        </p:nvGraphicFramePr>
        <p:xfrm>
          <a:off x="488098" y="3483773"/>
          <a:ext cx="11182286" cy="279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669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6617617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전공관련 교과영역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자체 기준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바이오시스템대학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단과대학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)[2025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신설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바이오환경과학과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지구과학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식품생명공학과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의생명공학과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23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86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9" y="1159495"/>
            <a:ext cx="11182286" cy="2111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FF0000"/>
                </a:solidFill>
              </a:rPr>
              <a:t>수학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과학</a:t>
            </a:r>
            <a:r>
              <a:rPr lang="ko-KR" altLang="en-US" sz="1600" b="1" dirty="0">
                <a:solidFill>
                  <a:schemeClr val="tx1"/>
                </a:solidFill>
              </a:rPr>
              <a:t>의 기초학업역량이 곧 전공 수학 역량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수학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미적분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확률과 통계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기하</a:t>
            </a:r>
            <a:r>
              <a:rPr lang="en-US" altLang="ko-KR" sz="1600" b="1" dirty="0">
                <a:solidFill>
                  <a:schemeClr val="tx1"/>
                </a:solidFill>
              </a:rPr>
              <a:t>), </a:t>
            </a:r>
            <a:r>
              <a:rPr lang="ko-KR" altLang="en-US" sz="1600" b="1" dirty="0">
                <a:solidFill>
                  <a:schemeClr val="tx1"/>
                </a:solidFill>
              </a:rPr>
              <a:t>과학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물리학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화학 등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중심의 이수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 err="1">
                <a:solidFill>
                  <a:schemeClr val="tx1"/>
                </a:solidFill>
              </a:rPr>
              <a:t>무전공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광역화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모집단위</a:t>
            </a:r>
            <a:r>
              <a:rPr lang="en-US" altLang="ko-KR" sz="1600" b="1" dirty="0">
                <a:solidFill>
                  <a:schemeClr val="tx1"/>
                </a:solidFill>
              </a:rPr>
              <a:t>-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단과대학 모집</a:t>
            </a:r>
            <a:r>
              <a:rPr lang="en-US" altLang="ko-KR" sz="1600" b="1" dirty="0">
                <a:solidFill>
                  <a:schemeClr val="tx1"/>
                </a:solidFill>
              </a:rPr>
              <a:t>): </a:t>
            </a:r>
            <a:r>
              <a:rPr lang="ko-KR" altLang="en-US" sz="1600" b="1" dirty="0">
                <a:solidFill>
                  <a:srgbClr val="FF0000"/>
                </a:solidFill>
              </a:rPr>
              <a:t>과학교과 중심의 탐구 역량</a:t>
            </a:r>
            <a:r>
              <a:rPr lang="en-US" altLang="ko-KR" sz="1600" b="1" dirty="0">
                <a:solidFill>
                  <a:srgbClr val="FF0000"/>
                </a:solidFill>
              </a:rPr>
              <a:t>+</a:t>
            </a:r>
            <a:r>
              <a:rPr lang="ko-KR" altLang="en-US" sz="1600" b="1" dirty="0">
                <a:solidFill>
                  <a:srgbClr val="FF0000"/>
                </a:solidFill>
              </a:rPr>
              <a:t>수학 교과 중심의 소양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  - </a:t>
            </a:r>
            <a:r>
              <a:rPr lang="ko-KR" altLang="en-US" sz="1600" b="1" dirty="0">
                <a:solidFill>
                  <a:schemeClr val="tx1"/>
                </a:solidFill>
              </a:rPr>
              <a:t>입학 후 선택 가능한 학과로의 진로 탐색을 위한 관련 역량 필요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최종합격자의 이수 현황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화학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물리학 영역의 이수 비율이 높음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선택 가능 학과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ko-KR" altLang="en-US" sz="1600" b="1" dirty="0">
                <a:solidFill>
                  <a:schemeClr val="tx1"/>
                </a:solidFill>
              </a:rPr>
              <a:t> 내 </a:t>
            </a:r>
            <a:r>
              <a:rPr lang="en-US" altLang="ko-KR" sz="1600" b="1" dirty="0">
                <a:solidFill>
                  <a:schemeClr val="tx1"/>
                </a:solidFill>
              </a:rPr>
              <a:t>4</a:t>
            </a:r>
            <a:r>
              <a:rPr lang="ko-KR" altLang="en-US" sz="1600" b="1" dirty="0">
                <a:solidFill>
                  <a:schemeClr val="tx1"/>
                </a:solidFill>
              </a:rPr>
              <a:t>개 학과 중 선택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E3553B-1EEC-47ED-B8CF-940EA916A91F}"/>
              </a:ext>
            </a:extLst>
          </p:cNvPr>
          <p:cNvGraphicFramePr>
            <a:graphicFrameLocks noGrp="1"/>
          </p:cNvGraphicFramePr>
          <p:nvPr/>
        </p:nvGraphicFramePr>
        <p:xfrm>
          <a:off x="488098" y="3483773"/>
          <a:ext cx="11182286" cy="279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669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6617617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전공관련 교과영역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자체 기준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전자전기공학부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정보통신공학과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건설환경공학과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지구과학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화공생물공학과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기계로봇에너지공학과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23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904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9" y="1159495"/>
            <a:ext cx="11182286" cy="2111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FF0000"/>
                </a:solidFill>
              </a:rPr>
              <a:t>수학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과학</a:t>
            </a:r>
            <a:r>
              <a:rPr lang="ko-KR" altLang="en-US" sz="1600" b="1" dirty="0">
                <a:solidFill>
                  <a:schemeClr val="tx1"/>
                </a:solidFill>
              </a:rPr>
              <a:t>의 기초학업역량이 곧 전공 수학 역량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수학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미적분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확률과 통계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기하</a:t>
            </a:r>
            <a:r>
              <a:rPr lang="en-US" altLang="ko-KR" sz="1600" b="1" dirty="0">
                <a:solidFill>
                  <a:schemeClr val="tx1"/>
                </a:solidFill>
              </a:rPr>
              <a:t>), </a:t>
            </a:r>
            <a:r>
              <a:rPr lang="ko-KR" altLang="en-US" sz="1600" b="1" dirty="0">
                <a:solidFill>
                  <a:schemeClr val="tx1"/>
                </a:solidFill>
              </a:rPr>
              <a:t>과학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물리학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화학 등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중심의 이수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 err="1">
                <a:solidFill>
                  <a:schemeClr val="tx1"/>
                </a:solidFill>
              </a:rPr>
              <a:t>무전공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광역화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모집단위</a:t>
            </a:r>
            <a:r>
              <a:rPr lang="en-US" altLang="ko-KR" sz="1600" b="1" dirty="0">
                <a:solidFill>
                  <a:schemeClr val="tx1"/>
                </a:solidFill>
              </a:rPr>
              <a:t>-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단과대학 모집</a:t>
            </a:r>
            <a:r>
              <a:rPr lang="en-US" altLang="ko-KR" sz="1600" b="1" dirty="0">
                <a:solidFill>
                  <a:schemeClr val="tx1"/>
                </a:solidFill>
              </a:rPr>
              <a:t>): </a:t>
            </a:r>
            <a:r>
              <a:rPr lang="ko-KR" altLang="en-US" sz="1600" b="1" dirty="0">
                <a:solidFill>
                  <a:srgbClr val="FF0000"/>
                </a:solidFill>
              </a:rPr>
              <a:t>과학교과 중심의 탐구 역량</a:t>
            </a:r>
            <a:r>
              <a:rPr lang="en-US" altLang="ko-KR" sz="1600" b="1" dirty="0">
                <a:solidFill>
                  <a:srgbClr val="FF0000"/>
                </a:solidFill>
              </a:rPr>
              <a:t>+</a:t>
            </a:r>
            <a:r>
              <a:rPr lang="ko-KR" altLang="en-US" sz="1600" b="1" dirty="0">
                <a:solidFill>
                  <a:srgbClr val="FF0000"/>
                </a:solidFill>
              </a:rPr>
              <a:t>수학 교과 중심의 소양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  - </a:t>
            </a:r>
            <a:r>
              <a:rPr lang="ko-KR" altLang="en-US" sz="1600" b="1" dirty="0">
                <a:solidFill>
                  <a:schemeClr val="tx1"/>
                </a:solidFill>
              </a:rPr>
              <a:t>입학 후 선택 가능한 학과로의 진로 탐색을 위한 관련 역량 필요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최종합격자의 이수 현황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화학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물리학 영역의 이수 비율이 높음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선택 가능 학과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ko-KR" altLang="en-US" sz="1600" b="1" dirty="0">
                <a:solidFill>
                  <a:schemeClr val="tx1"/>
                </a:solidFill>
              </a:rPr>
              <a:t> 내 </a:t>
            </a:r>
            <a:r>
              <a:rPr lang="en-US" altLang="ko-KR" sz="1600" b="1" dirty="0">
                <a:solidFill>
                  <a:schemeClr val="tx1"/>
                </a:solidFill>
              </a:rPr>
              <a:t>4</a:t>
            </a:r>
            <a:r>
              <a:rPr lang="ko-KR" altLang="en-US" sz="1600" b="1" dirty="0">
                <a:solidFill>
                  <a:schemeClr val="tx1"/>
                </a:solidFill>
              </a:rPr>
              <a:t>개 학과 중 선택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E3553B-1EEC-47ED-B8CF-940EA916A91F}"/>
              </a:ext>
            </a:extLst>
          </p:cNvPr>
          <p:cNvGraphicFramePr>
            <a:graphicFrameLocks noGrp="1"/>
          </p:cNvGraphicFramePr>
          <p:nvPr/>
        </p:nvGraphicFramePr>
        <p:xfrm>
          <a:off x="488098" y="3483773"/>
          <a:ext cx="11182286" cy="279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669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6617617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전공관련 교과영역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자체 기준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건축공학부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산업시스템공학과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에너지신소재공학과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컴퓨터∙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시스템반도체학부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23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867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B878CD-85D4-4A16-AC28-B1D6DD36B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899" y="115826"/>
            <a:ext cx="8339199" cy="830997"/>
          </a:xfrm>
        </p:spPr>
        <p:txBody>
          <a:bodyPr/>
          <a:lstStyle/>
          <a:p>
            <a:r>
              <a:rPr lang="ko-KR" altLang="en-US" dirty="0"/>
              <a:t>동국대</a:t>
            </a:r>
            <a:r>
              <a:rPr lang="en-US" altLang="ko-KR" dirty="0"/>
              <a:t>: 2028 </a:t>
            </a:r>
            <a:r>
              <a:rPr lang="ko-KR" altLang="en-US" dirty="0"/>
              <a:t>대입 준비를 위한 모집단위별 전공 관련 교과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EB4F9D-70F1-4239-9F43-265F70839E8E}"/>
              </a:ext>
            </a:extLst>
          </p:cNvPr>
          <p:cNvSpPr/>
          <p:nvPr/>
        </p:nvSpPr>
        <p:spPr>
          <a:xfrm>
            <a:off x="488099" y="1159495"/>
            <a:ext cx="11182286" cy="2111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rgbClr val="FF0000"/>
                </a:solidFill>
              </a:rPr>
              <a:t>수학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과학</a:t>
            </a:r>
            <a:r>
              <a:rPr lang="ko-KR" altLang="en-US" sz="1600" b="1" dirty="0">
                <a:solidFill>
                  <a:schemeClr val="tx1"/>
                </a:solidFill>
              </a:rPr>
              <a:t>의 기초학업역량이 곧 전공 수학 역량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수학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미적분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확률과 통계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기하</a:t>
            </a:r>
            <a:r>
              <a:rPr lang="en-US" altLang="ko-KR" sz="1600" b="1" dirty="0">
                <a:solidFill>
                  <a:schemeClr val="tx1"/>
                </a:solidFill>
              </a:rPr>
              <a:t>), </a:t>
            </a:r>
            <a:r>
              <a:rPr lang="ko-KR" altLang="en-US" sz="1600" b="1" dirty="0">
                <a:solidFill>
                  <a:schemeClr val="tx1"/>
                </a:solidFill>
              </a:rPr>
              <a:t>과학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물리학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화학 등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중심의 이수 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 err="1">
                <a:solidFill>
                  <a:schemeClr val="tx1"/>
                </a:solidFill>
              </a:rPr>
              <a:t>무전공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광역화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</a:rPr>
              <a:t>모집단위</a:t>
            </a:r>
            <a:r>
              <a:rPr lang="en-US" altLang="ko-KR" sz="1600" b="1" dirty="0">
                <a:solidFill>
                  <a:schemeClr val="tx1"/>
                </a:solidFill>
              </a:rPr>
              <a:t>-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단과대학 모집</a:t>
            </a:r>
            <a:r>
              <a:rPr lang="en-US" altLang="ko-KR" sz="1600" b="1" dirty="0">
                <a:solidFill>
                  <a:schemeClr val="tx1"/>
                </a:solidFill>
              </a:rPr>
              <a:t>): </a:t>
            </a:r>
            <a:r>
              <a:rPr lang="ko-KR" altLang="en-US" sz="1600" b="1" dirty="0">
                <a:solidFill>
                  <a:srgbClr val="FF0000"/>
                </a:solidFill>
              </a:rPr>
              <a:t>과학교과 중심의 탐구 역량</a:t>
            </a:r>
            <a:r>
              <a:rPr lang="en-US" altLang="ko-KR" sz="1600" b="1" dirty="0">
                <a:solidFill>
                  <a:srgbClr val="FF0000"/>
                </a:solidFill>
              </a:rPr>
              <a:t>+</a:t>
            </a:r>
            <a:r>
              <a:rPr lang="ko-KR" altLang="en-US" sz="1600" b="1" dirty="0">
                <a:solidFill>
                  <a:srgbClr val="FF0000"/>
                </a:solidFill>
              </a:rPr>
              <a:t>수학 교과 중심의 소양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  - </a:t>
            </a:r>
            <a:r>
              <a:rPr lang="ko-KR" altLang="en-US" sz="1600" b="1" dirty="0">
                <a:solidFill>
                  <a:schemeClr val="tx1"/>
                </a:solidFill>
              </a:rPr>
              <a:t>입학 후 선택 가능한 학과로의 진로 탐색을 위한 관련 역량 필요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최종합격자의 이수 현황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</a:rPr>
              <a:t>화학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물리학 영역의 이수 비율이 높음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</a:rPr>
              <a:t> ※ </a:t>
            </a:r>
            <a:r>
              <a:rPr lang="ko-KR" altLang="en-US" sz="1600" b="1" dirty="0">
                <a:solidFill>
                  <a:schemeClr val="tx1"/>
                </a:solidFill>
              </a:rPr>
              <a:t>선택 가능 학과</a:t>
            </a:r>
            <a:r>
              <a:rPr lang="en-US" altLang="ko-KR" sz="1600" b="1" dirty="0">
                <a:solidFill>
                  <a:schemeClr val="tx1"/>
                </a:solidFill>
              </a:rPr>
              <a:t>: </a:t>
            </a:r>
            <a:r>
              <a:rPr lang="ko-KR" altLang="en-US" sz="1600" b="1" dirty="0" err="1">
                <a:solidFill>
                  <a:schemeClr val="tx1"/>
                </a:solidFill>
              </a:rPr>
              <a:t>바이오시스템대학</a:t>
            </a:r>
            <a:r>
              <a:rPr lang="ko-KR" altLang="en-US" sz="1600" b="1" dirty="0">
                <a:solidFill>
                  <a:schemeClr val="tx1"/>
                </a:solidFill>
              </a:rPr>
              <a:t> 내 </a:t>
            </a:r>
            <a:r>
              <a:rPr lang="en-US" altLang="ko-KR" sz="1600" b="1" dirty="0">
                <a:solidFill>
                  <a:schemeClr val="tx1"/>
                </a:solidFill>
              </a:rPr>
              <a:t>4</a:t>
            </a:r>
            <a:r>
              <a:rPr lang="ko-KR" altLang="en-US" sz="1600" b="1" dirty="0">
                <a:solidFill>
                  <a:schemeClr val="tx1"/>
                </a:solidFill>
              </a:rPr>
              <a:t>개 학과 중 선택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E3553B-1EEC-47ED-B8CF-940EA916A91F}"/>
              </a:ext>
            </a:extLst>
          </p:cNvPr>
          <p:cNvGraphicFramePr>
            <a:graphicFrameLocks noGrp="1"/>
          </p:cNvGraphicFramePr>
          <p:nvPr/>
        </p:nvGraphicFramePr>
        <p:xfrm>
          <a:off x="488099" y="3672309"/>
          <a:ext cx="11182286" cy="2329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669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6617617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전공관련 교과영역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자체 기준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가정교육과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사회문화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약학과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열린전공학부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자연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)[2025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신설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399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10B931-6430-45EF-B843-EC71A54119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부산대</a:t>
            </a:r>
            <a:r>
              <a:rPr lang="en-US" altLang="ko-KR" dirty="0"/>
              <a:t>: </a:t>
            </a:r>
            <a:r>
              <a:rPr lang="ko-KR" altLang="en-US" dirty="0"/>
              <a:t>고교 선택 과목 가이드</a:t>
            </a:r>
            <a:r>
              <a:rPr lang="en-US" altLang="ko-KR" dirty="0"/>
              <a:t>(2028 </a:t>
            </a:r>
            <a:r>
              <a:rPr lang="ko-KR" altLang="en-US" dirty="0"/>
              <a:t>입학생 대상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0EC9FF-A715-4A00-8926-4ACC34DCE960}"/>
              </a:ext>
            </a:extLst>
          </p:cNvPr>
          <p:cNvSpPr/>
          <p:nvPr/>
        </p:nvSpPr>
        <p:spPr>
          <a:xfrm>
            <a:off x="488099" y="1105706"/>
            <a:ext cx="11182286" cy="2111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고교학점제 시행 및 </a:t>
            </a:r>
            <a:r>
              <a:rPr lang="en-US" altLang="ko-KR" sz="1600" b="1" dirty="0">
                <a:solidFill>
                  <a:schemeClr val="tx1"/>
                </a:solidFill>
              </a:rPr>
              <a:t>2022 </a:t>
            </a:r>
            <a:r>
              <a:rPr lang="ko-KR" altLang="en-US" sz="1600" b="1" dirty="0">
                <a:solidFill>
                  <a:schemeClr val="tx1"/>
                </a:solidFill>
              </a:rPr>
              <a:t>개정 교육과정 도입에 따라 고교생의 관심과 적성을 고려한 주도적 과목 선택을 지원하기 위해 </a:t>
            </a:r>
            <a:r>
              <a:rPr lang="ko-KR" altLang="en-US" sz="1600" b="1" dirty="0">
                <a:solidFill>
                  <a:srgbClr val="FF0000"/>
                </a:solidFill>
              </a:rPr>
              <a:t>최소한의 과목 선택 가이드</a:t>
            </a:r>
            <a:r>
              <a:rPr lang="ko-KR" altLang="en-US" sz="1600" b="1" dirty="0">
                <a:solidFill>
                  <a:schemeClr val="tx1"/>
                </a:solidFill>
              </a:rPr>
              <a:t>를 안내하고자 합니다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과목 이수 시 교과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군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</a:rPr>
              <a:t>별 </a:t>
            </a:r>
            <a:r>
              <a:rPr lang="ko-KR" altLang="en-US" sz="1600" b="1" dirty="0">
                <a:solidFill>
                  <a:srgbClr val="FF0000"/>
                </a:solidFill>
              </a:rPr>
              <a:t>과목의 위계를 고려하여 이수</a:t>
            </a:r>
            <a:r>
              <a:rPr lang="ko-KR" altLang="en-US" sz="1600" b="1" dirty="0">
                <a:solidFill>
                  <a:schemeClr val="tx1"/>
                </a:solidFill>
              </a:rPr>
              <a:t>하는 것을 권장합니다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아래 기재된 모집단위 이외 모집단위는 과목이 </a:t>
            </a:r>
            <a:r>
              <a:rPr lang="ko-KR" altLang="en-US" sz="1600" b="1" dirty="0" err="1">
                <a:solidFill>
                  <a:schemeClr val="tx1"/>
                </a:solidFill>
              </a:rPr>
              <a:t>미설정되어</a:t>
            </a:r>
            <a:r>
              <a:rPr lang="ko-KR" altLang="en-US" sz="1600" b="1" dirty="0">
                <a:solidFill>
                  <a:schemeClr val="tx1"/>
                </a:solidFill>
              </a:rPr>
              <a:t> 있으며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과목이 </a:t>
            </a:r>
            <a:r>
              <a:rPr lang="ko-KR" altLang="en-US" sz="1600" b="1" dirty="0" err="1">
                <a:solidFill>
                  <a:srgbClr val="FF0000"/>
                </a:solidFill>
              </a:rPr>
              <a:t>미설정된</a:t>
            </a:r>
            <a:r>
              <a:rPr lang="ko-KR" altLang="en-US" sz="1600" b="1" dirty="0">
                <a:solidFill>
                  <a:srgbClr val="FF0000"/>
                </a:solidFill>
              </a:rPr>
              <a:t> 모집단위는 본인의 관심과 적성</a:t>
            </a:r>
            <a:r>
              <a:rPr lang="ko-KR" altLang="en-US" sz="1600" b="1" dirty="0">
                <a:solidFill>
                  <a:schemeClr val="tx1"/>
                </a:solidFill>
              </a:rPr>
              <a:t>에 따라 과목을 폭넓게 선택하여 이수하는 것을 권장합니다</a:t>
            </a:r>
            <a:r>
              <a:rPr lang="en-US" altLang="ko-KR" sz="1600" b="1" dirty="0">
                <a:solidFill>
                  <a:schemeClr val="tx1"/>
                </a:solidFill>
              </a:rPr>
              <a:t>.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1E056F6-9CF0-43EE-8671-C8B5127FD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156358"/>
              </p:ext>
            </p:extLst>
          </p:nvPr>
        </p:nvGraphicFramePr>
        <p:xfrm>
          <a:off x="488099" y="3217312"/>
          <a:ext cx="11182286" cy="3516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669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6617617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과목 선택 가이드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경제학부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경영학과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확률과 통계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미적분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 이상 이수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통계학과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산업공학과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수학교육과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IT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응용공학과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정보컴퓨터공학부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확률과 통계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기하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중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과목 이상 이수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지질환경과학과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해양학과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대기환경과학과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지구과학교육과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물리학</a:t>
                      </a:r>
                      <a:r>
                        <a:rPr lang="en-US" altLang="ko-KR" b="1" u="sng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지구과학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관련 일반선택과목 및 진로선택과목 중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의생명융합</a:t>
                      </a:r>
                      <a:r>
                        <a:rPr lang="ko-KR" altLang="en-US" b="1" dirty="0" err="1">
                          <a:solidFill>
                            <a:srgbClr val="FF0000"/>
                          </a:solidFill>
                        </a:rPr>
                        <a:t>공학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응용생명융합학부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물리학</a:t>
                      </a:r>
                      <a:r>
                        <a:rPr lang="en-US" altLang="ko-KR" b="0" u="sng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u="sng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u="sng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u="sng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u="sng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관련 일반선택과목 및 진로선택과목 중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920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10B931-6430-45EF-B843-EC71A54119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부산대</a:t>
            </a:r>
            <a:r>
              <a:rPr lang="en-US" altLang="ko-KR" dirty="0"/>
              <a:t>: </a:t>
            </a:r>
            <a:r>
              <a:rPr lang="ko-KR" altLang="en-US" dirty="0"/>
              <a:t>고교 선택 과목 가이드</a:t>
            </a:r>
            <a:r>
              <a:rPr lang="en-US" altLang="ko-KR" dirty="0"/>
              <a:t>(2028 </a:t>
            </a:r>
            <a:r>
              <a:rPr lang="ko-KR" altLang="en-US" dirty="0"/>
              <a:t>입학생 대상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0EC9FF-A715-4A00-8926-4ACC34DCE960}"/>
              </a:ext>
            </a:extLst>
          </p:cNvPr>
          <p:cNvSpPr/>
          <p:nvPr/>
        </p:nvSpPr>
        <p:spPr>
          <a:xfrm>
            <a:off x="488099" y="1159495"/>
            <a:ext cx="11182286" cy="2111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고교학점제 시행 및 </a:t>
            </a:r>
            <a:r>
              <a:rPr lang="en-US" altLang="ko-KR" sz="1600" b="1" dirty="0">
                <a:solidFill>
                  <a:schemeClr val="tx1"/>
                </a:solidFill>
              </a:rPr>
              <a:t>2022 </a:t>
            </a:r>
            <a:r>
              <a:rPr lang="ko-KR" altLang="en-US" sz="1600" b="1" dirty="0">
                <a:solidFill>
                  <a:schemeClr val="tx1"/>
                </a:solidFill>
              </a:rPr>
              <a:t>개정 교육과정 도입에 따라 고교생의 관심과 적성을 고려한 주도적 과목 선택을 지원하기 위해 </a:t>
            </a:r>
            <a:r>
              <a:rPr lang="ko-KR" altLang="en-US" sz="1600" b="1" dirty="0">
                <a:solidFill>
                  <a:srgbClr val="FF0000"/>
                </a:solidFill>
              </a:rPr>
              <a:t>최소한의 과목 선택 가이드</a:t>
            </a:r>
            <a:r>
              <a:rPr lang="ko-KR" altLang="en-US" sz="1600" b="1" dirty="0">
                <a:solidFill>
                  <a:schemeClr val="tx1"/>
                </a:solidFill>
              </a:rPr>
              <a:t>를 안내하고자 합니다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과목 이수 시 교과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군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</a:rPr>
              <a:t>별 </a:t>
            </a:r>
            <a:r>
              <a:rPr lang="ko-KR" altLang="en-US" sz="1600" b="1" dirty="0">
                <a:solidFill>
                  <a:srgbClr val="FF0000"/>
                </a:solidFill>
              </a:rPr>
              <a:t>과목의 위계를 고려하여 이수</a:t>
            </a:r>
            <a:r>
              <a:rPr lang="ko-KR" altLang="en-US" sz="1600" b="1" dirty="0">
                <a:solidFill>
                  <a:schemeClr val="tx1"/>
                </a:solidFill>
              </a:rPr>
              <a:t>하는 것을 권장합니다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아래 기재된 모집단위 이외 모집단위는 과목이 </a:t>
            </a:r>
            <a:r>
              <a:rPr lang="ko-KR" altLang="en-US" sz="1600" b="1" dirty="0" err="1">
                <a:solidFill>
                  <a:schemeClr val="tx1"/>
                </a:solidFill>
              </a:rPr>
              <a:t>미설정되어</a:t>
            </a:r>
            <a:r>
              <a:rPr lang="ko-KR" altLang="en-US" sz="1600" b="1" dirty="0">
                <a:solidFill>
                  <a:schemeClr val="tx1"/>
                </a:solidFill>
              </a:rPr>
              <a:t> 있으며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과목이 </a:t>
            </a:r>
            <a:r>
              <a:rPr lang="ko-KR" altLang="en-US" sz="1600" b="1" dirty="0" err="1">
                <a:solidFill>
                  <a:srgbClr val="FF0000"/>
                </a:solidFill>
              </a:rPr>
              <a:t>미설정된</a:t>
            </a:r>
            <a:r>
              <a:rPr lang="ko-KR" altLang="en-US" sz="1600" b="1" dirty="0">
                <a:solidFill>
                  <a:srgbClr val="FF0000"/>
                </a:solidFill>
              </a:rPr>
              <a:t> 모집단위는 본인의 관심과 적성</a:t>
            </a:r>
            <a:r>
              <a:rPr lang="ko-KR" altLang="en-US" sz="1600" b="1" dirty="0">
                <a:solidFill>
                  <a:schemeClr val="tx1"/>
                </a:solidFill>
              </a:rPr>
              <a:t>에 따라 과목을 폭넓게 선택하여 이수하는 것을 권장합니다</a:t>
            </a:r>
            <a:r>
              <a:rPr lang="en-US" altLang="ko-KR" sz="1600" b="1" dirty="0">
                <a:solidFill>
                  <a:schemeClr val="tx1"/>
                </a:solidFill>
              </a:rPr>
              <a:t>.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1E056F6-9CF0-43EE-8671-C8B5127FD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950645"/>
              </p:ext>
            </p:extLst>
          </p:nvPr>
        </p:nvGraphicFramePr>
        <p:xfrm>
          <a:off x="407416" y="3429000"/>
          <a:ext cx="11182286" cy="2561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9525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4462761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과목 선택 가이드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18638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미생물학과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분자생물학과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생물교육과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식품영양학과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간호학과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원예생명과학과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식품공학과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생명환경화학과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바이오소재과학과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바이오환경에너지학과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조경학과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약학부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의예과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치의예과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한의학전문대학원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학석사통합과정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화학</a:t>
                      </a:r>
                      <a:r>
                        <a:rPr lang="en-US" altLang="ko-KR" b="1" u="sng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</a:rPr>
                        <a:t>생명과학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관련 일반선택과목 및 진로선택과목 중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과목 이상 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9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10B931-6430-45EF-B843-EC71A54119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부산대</a:t>
            </a:r>
            <a:r>
              <a:rPr lang="en-US" altLang="ko-KR" dirty="0"/>
              <a:t>: </a:t>
            </a:r>
            <a:r>
              <a:rPr lang="ko-KR" altLang="en-US" dirty="0"/>
              <a:t>고교 선택 과목 가이드</a:t>
            </a:r>
            <a:r>
              <a:rPr lang="en-US" altLang="ko-KR" dirty="0"/>
              <a:t>(2028 </a:t>
            </a:r>
            <a:r>
              <a:rPr lang="ko-KR" altLang="en-US" dirty="0"/>
              <a:t>입학생 대상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0EC9FF-A715-4A00-8926-4ACC34DCE960}"/>
              </a:ext>
            </a:extLst>
          </p:cNvPr>
          <p:cNvSpPr/>
          <p:nvPr/>
        </p:nvSpPr>
        <p:spPr>
          <a:xfrm>
            <a:off x="488099" y="1159495"/>
            <a:ext cx="11182286" cy="2111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고교학점제 시행 및 </a:t>
            </a:r>
            <a:r>
              <a:rPr lang="en-US" altLang="ko-KR" sz="1600" b="1" dirty="0">
                <a:solidFill>
                  <a:schemeClr val="tx1"/>
                </a:solidFill>
              </a:rPr>
              <a:t>2022 </a:t>
            </a:r>
            <a:r>
              <a:rPr lang="ko-KR" altLang="en-US" sz="1600" b="1" dirty="0">
                <a:solidFill>
                  <a:schemeClr val="tx1"/>
                </a:solidFill>
              </a:rPr>
              <a:t>개정 교육과정 도입에 따라 고교생의 관심과 적성을 고려한 주도적 과목 선택을 지원하기 위해 </a:t>
            </a:r>
            <a:r>
              <a:rPr lang="ko-KR" altLang="en-US" sz="1600" b="1" dirty="0">
                <a:solidFill>
                  <a:srgbClr val="FF0000"/>
                </a:solidFill>
              </a:rPr>
              <a:t>최소한의 과목 선택 가이드</a:t>
            </a:r>
            <a:r>
              <a:rPr lang="ko-KR" altLang="en-US" sz="1600" b="1" dirty="0">
                <a:solidFill>
                  <a:schemeClr val="tx1"/>
                </a:solidFill>
              </a:rPr>
              <a:t>를 안내하고자 합니다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과목 이수 시 교과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군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</a:rPr>
              <a:t>별 </a:t>
            </a:r>
            <a:r>
              <a:rPr lang="ko-KR" altLang="en-US" sz="1600" b="1" dirty="0">
                <a:solidFill>
                  <a:srgbClr val="FF0000"/>
                </a:solidFill>
              </a:rPr>
              <a:t>과목의 위계를 고려하여 이수</a:t>
            </a:r>
            <a:r>
              <a:rPr lang="ko-KR" altLang="en-US" sz="1600" b="1" dirty="0">
                <a:solidFill>
                  <a:schemeClr val="tx1"/>
                </a:solidFill>
              </a:rPr>
              <a:t>하는 것을 권장합니다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/>
                </a:solidFill>
              </a:rPr>
              <a:t>아래 기재된 모집단위 이외 모집단위는 과목이 </a:t>
            </a:r>
            <a:r>
              <a:rPr lang="ko-KR" altLang="en-US" sz="1600" b="1" dirty="0" err="1">
                <a:solidFill>
                  <a:schemeClr val="tx1"/>
                </a:solidFill>
              </a:rPr>
              <a:t>미설정되어</a:t>
            </a:r>
            <a:r>
              <a:rPr lang="ko-KR" altLang="en-US" sz="1600" b="1" dirty="0">
                <a:solidFill>
                  <a:schemeClr val="tx1"/>
                </a:solidFill>
              </a:rPr>
              <a:t> 있으며</a:t>
            </a:r>
            <a:r>
              <a:rPr lang="en-US" altLang="ko-KR" sz="1600" b="1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과목이 </a:t>
            </a:r>
            <a:r>
              <a:rPr lang="ko-KR" altLang="en-US" sz="1600" b="1" dirty="0" err="1">
                <a:solidFill>
                  <a:srgbClr val="FF0000"/>
                </a:solidFill>
              </a:rPr>
              <a:t>미설정된</a:t>
            </a:r>
            <a:r>
              <a:rPr lang="ko-KR" altLang="en-US" sz="1600" b="1" dirty="0">
                <a:solidFill>
                  <a:srgbClr val="FF0000"/>
                </a:solidFill>
              </a:rPr>
              <a:t> 모집단위는 본인의 관심과 적성</a:t>
            </a:r>
            <a:r>
              <a:rPr lang="ko-KR" altLang="en-US" sz="1600" b="1" dirty="0">
                <a:solidFill>
                  <a:schemeClr val="tx1"/>
                </a:solidFill>
              </a:rPr>
              <a:t>에 따라 과목을 폭넓게 선택하여 이수하는 것을 권장합니다</a:t>
            </a:r>
            <a:r>
              <a:rPr lang="en-US" altLang="ko-KR" sz="1600" b="1" dirty="0">
                <a:solidFill>
                  <a:schemeClr val="tx1"/>
                </a:solidFill>
              </a:rPr>
              <a:t>.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1E056F6-9CF0-43EE-8671-C8B5127FD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203770"/>
              </p:ext>
            </p:extLst>
          </p:nvPr>
        </p:nvGraphicFramePr>
        <p:xfrm>
          <a:off x="407416" y="3429000"/>
          <a:ext cx="11182286" cy="2561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855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4292431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과목 선택 가이드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18638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기계공학부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고분자공학과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유기소재시스템공학과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화공생명공학과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환경공학과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재료공학부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전기전자공학부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건축공학과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사회기반시스템공학과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항공우주공학과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조선해양공학과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첨단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자율전공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첨단소재자율전공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첨단모빌리티자율전공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물리교육과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화학교육과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바이오산업기계공학과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첨단융합학부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기하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 이상 이수하고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물리학</a:t>
                      </a:r>
                      <a:r>
                        <a:rPr lang="en-US" altLang="ko-KR" b="1" u="sng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b="1" u="sng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화학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일반선택과목 및 진로선택과목 중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과목 이상 이수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394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서울대</a:t>
            </a:r>
            <a:r>
              <a:rPr lang="en-US" altLang="ko-KR" dirty="0"/>
              <a:t>: 2028</a:t>
            </a:r>
            <a:r>
              <a:rPr lang="ko-KR" altLang="en-US" dirty="0"/>
              <a:t>학년도 이후 전공연계 선택 가이드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218711" y="1130533"/>
            <a:ext cx="11261165" cy="2576943"/>
            <a:chOff x="276900" y="1271849"/>
            <a:chExt cx="11261165" cy="2709947"/>
          </a:xfrm>
        </p:grpSpPr>
        <p:sp>
          <p:nvSpPr>
            <p:cNvPr id="4" name="직사각형 3"/>
            <p:cNvSpPr/>
            <p:nvPr/>
          </p:nvSpPr>
          <p:spPr>
            <a:xfrm>
              <a:off x="276900" y="1604356"/>
              <a:ext cx="11261165" cy="23774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700" b="1" dirty="0">
                  <a:solidFill>
                    <a:srgbClr val="FF0000"/>
                  </a:solidFill>
                </a:rPr>
                <a:t>확률과 통계</a:t>
              </a:r>
              <a:r>
                <a:rPr lang="en-US" altLang="ko-KR" sz="1700" b="1" dirty="0">
                  <a:solidFill>
                    <a:srgbClr val="FF0000"/>
                  </a:solidFill>
                </a:rPr>
                <a:t>, </a:t>
              </a:r>
              <a:r>
                <a:rPr lang="ko-KR" altLang="en-US" sz="1700" b="1" dirty="0">
                  <a:solidFill>
                    <a:srgbClr val="FF0000"/>
                  </a:solidFill>
                </a:rPr>
                <a:t>기하</a:t>
              </a:r>
              <a:r>
                <a:rPr lang="en-US" altLang="ko-KR" sz="1700" b="1" dirty="0">
                  <a:solidFill>
                    <a:srgbClr val="FF0000"/>
                  </a:solidFill>
                </a:rPr>
                <a:t>, </a:t>
              </a:r>
              <a:r>
                <a:rPr lang="ko-KR" altLang="en-US" sz="1700" b="1" dirty="0">
                  <a:solidFill>
                    <a:srgbClr val="FF0000"/>
                  </a:solidFill>
                </a:rPr>
                <a:t>미적분 </a:t>
              </a:r>
              <a:r>
                <a:rPr lang="ko-KR" altLang="en-US" sz="1700" b="1" dirty="0" err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Ⅱ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 수학 교과의 선택과목의 충실한 이수 권장</a:t>
              </a:r>
              <a:endParaRPr lang="en-US" altLang="ko-KR" sz="1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전공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적성에 따른 과학 교과와 연계된 진로선택과목 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과목 이상 이수 권장</a:t>
              </a:r>
              <a:endParaRPr lang="en-US" altLang="ko-KR" sz="1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7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일반선택과목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우선 수강 권장</a:t>
              </a:r>
              <a:endParaRPr lang="en-US" altLang="ko-KR" sz="1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기계공학부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전기정보공학부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화학생물공학부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에너지자원공학과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원자핵공학과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조선해양공학과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항공우주공학과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7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물리학</a:t>
              </a:r>
              <a:r>
                <a:rPr lang="en-US" altLang="ko-KR" sz="17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7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일반선택과목</a:t>
              </a:r>
              <a:r>
                <a:rPr lang="en-US" altLang="ko-KR" sz="17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en-US" altLang="ko-KR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우선 수강 권장</a:t>
              </a:r>
              <a:endParaRPr lang="ko-KR" altLang="en-US" sz="1700" dirty="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573579" y="1271849"/>
              <a:ext cx="4572000" cy="4987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solidFill>
                    <a:schemeClr val="tx1"/>
                  </a:solidFill>
                </a:rPr>
                <a:t>자연과학</a:t>
              </a:r>
              <a:r>
                <a:rPr lang="en-US" altLang="ko-KR" sz="2000" dirty="0">
                  <a:solidFill>
                    <a:schemeClr val="tx1"/>
                  </a:solidFill>
                </a:rPr>
                <a:t>/</a:t>
              </a:r>
              <a:r>
                <a:rPr lang="ko-KR" altLang="en-US" sz="2000" dirty="0">
                  <a:solidFill>
                    <a:schemeClr val="tx1"/>
                  </a:solidFill>
                </a:rPr>
                <a:t>공학 등 이공계열 지원자</a:t>
              </a:r>
              <a:endParaRPr lang="en-US" altLang="ko-KR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218710" y="3863782"/>
            <a:ext cx="11261165" cy="1421173"/>
            <a:chOff x="276900" y="1271849"/>
            <a:chExt cx="11261165" cy="1494524"/>
          </a:xfrm>
        </p:grpSpPr>
        <p:sp>
          <p:nvSpPr>
            <p:cNvPr id="7" name="직사각형 6"/>
            <p:cNvSpPr/>
            <p:nvPr/>
          </p:nvSpPr>
          <p:spPr>
            <a:xfrm>
              <a:off x="276900" y="1604357"/>
              <a:ext cx="11261165" cy="11620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700" dirty="0">
                  <a:solidFill>
                    <a:schemeClr val="tx1"/>
                  </a:solidFill>
                </a:rPr>
                <a:t>인문사회</a:t>
              </a:r>
              <a:r>
                <a:rPr lang="en-US" altLang="ko-KR" sz="1700" dirty="0">
                  <a:solidFill>
                    <a:schemeClr val="tx1"/>
                  </a:solidFill>
                </a:rPr>
                <a:t>, </a:t>
              </a:r>
              <a:r>
                <a:rPr lang="ko-KR" altLang="en-US" sz="1700" dirty="0" err="1">
                  <a:solidFill>
                    <a:schemeClr val="tx1"/>
                  </a:solidFill>
                </a:rPr>
                <a:t>자연공학</a:t>
              </a:r>
              <a:r>
                <a:rPr lang="ko-KR" altLang="en-US" sz="1700" dirty="0">
                  <a:solidFill>
                    <a:schemeClr val="tx1"/>
                  </a:solidFill>
                </a:rPr>
                <a:t> 분야에 무관하게 학생의 관심과 적성에 따라 선택 과목</a:t>
              </a:r>
              <a:r>
                <a:rPr lang="en-US" altLang="ko-KR" sz="1700" dirty="0">
                  <a:solidFill>
                    <a:schemeClr val="tx1"/>
                  </a:solidFill>
                </a:rPr>
                <a:t>(</a:t>
              </a:r>
              <a:r>
                <a:rPr lang="ko-KR" altLang="en-US" sz="1700" dirty="0">
                  <a:solidFill>
                    <a:schemeClr val="tx1"/>
                  </a:solidFill>
                </a:rPr>
                <a:t>일반</a:t>
              </a:r>
              <a:r>
                <a:rPr lang="en-US" altLang="ko-KR" sz="1700" dirty="0">
                  <a:solidFill>
                    <a:schemeClr val="tx1"/>
                  </a:solidFill>
                </a:rPr>
                <a:t>/</a:t>
              </a:r>
              <a:r>
                <a:rPr lang="ko-KR" altLang="en-US" sz="1700" dirty="0">
                  <a:solidFill>
                    <a:schemeClr val="tx1"/>
                  </a:solidFill>
                </a:rPr>
                <a:t>진로</a:t>
              </a:r>
              <a:r>
                <a:rPr lang="en-US" altLang="ko-KR" sz="1700" dirty="0">
                  <a:solidFill>
                    <a:schemeClr val="tx1"/>
                  </a:solidFill>
                </a:rPr>
                <a:t>/</a:t>
              </a:r>
              <a:r>
                <a:rPr lang="ko-KR" altLang="en-US" sz="1700" dirty="0">
                  <a:solidFill>
                    <a:schemeClr val="tx1"/>
                  </a:solidFill>
                </a:rPr>
                <a:t>융합</a:t>
              </a:r>
              <a:r>
                <a:rPr lang="en-US" altLang="ko-KR" sz="1700" dirty="0">
                  <a:solidFill>
                    <a:schemeClr val="tx1"/>
                  </a:solidFill>
                </a:rPr>
                <a:t>)</a:t>
              </a:r>
              <a:r>
                <a:rPr lang="ko-KR" altLang="en-US" sz="1700" dirty="0">
                  <a:solidFill>
                    <a:schemeClr val="tx1"/>
                  </a:solidFill>
                </a:rPr>
                <a:t>을 폭넓게 이수 권장</a:t>
              </a:r>
              <a:endParaRPr lang="en-US" altLang="ko-KR" sz="17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700" dirty="0">
                  <a:solidFill>
                    <a:schemeClr val="tx1"/>
                  </a:solidFill>
                </a:rPr>
                <a:t>과목 이수와 더불어 </a:t>
              </a:r>
              <a:r>
                <a:rPr lang="ko-KR" altLang="en-US" sz="1700" b="1" dirty="0">
                  <a:solidFill>
                    <a:srgbClr val="FF0000"/>
                  </a:solidFill>
                </a:rPr>
                <a:t>깊이 있는 학습 경험</a:t>
              </a:r>
              <a:r>
                <a:rPr lang="ko-KR" altLang="en-US" sz="1700" dirty="0">
                  <a:solidFill>
                    <a:schemeClr val="tx1"/>
                  </a:solidFill>
                </a:rPr>
                <a:t> 갖추기를 권장함</a:t>
              </a:r>
              <a:endParaRPr lang="en-US" altLang="ko-KR" sz="17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73579" y="1271849"/>
              <a:ext cx="2460566" cy="4987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solidFill>
                    <a:schemeClr val="tx1"/>
                  </a:solidFill>
                </a:rPr>
                <a:t>학부대학 지원자</a:t>
              </a:r>
              <a:endParaRPr lang="en-US" altLang="ko-KR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218710" y="5826327"/>
            <a:ext cx="5353416" cy="7776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rgbClr val="FF0000"/>
                </a:solidFill>
              </a:rPr>
              <a:t>제</a:t>
            </a:r>
            <a:r>
              <a:rPr lang="en-US" altLang="ko-KR" sz="1700" b="1" dirty="0">
                <a:solidFill>
                  <a:srgbClr val="FF0000"/>
                </a:solidFill>
              </a:rPr>
              <a:t>2</a:t>
            </a:r>
            <a:r>
              <a:rPr lang="ko-KR" altLang="en-US" sz="1700" b="1" dirty="0">
                <a:solidFill>
                  <a:srgbClr val="FF0000"/>
                </a:solidFill>
              </a:rPr>
              <a:t>외국어</a:t>
            </a:r>
            <a:r>
              <a:rPr lang="en-US" altLang="ko-KR" sz="1700" b="1" dirty="0">
                <a:solidFill>
                  <a:srgbClr val="FF0000"/>
                </a:solidFill>
              </a:rPr>
              <a:t>/</a:t>
            </a:r>
            <a:r>
              <a:rPr lang="ko-KR" altLang="en-US" sz="1700" b="1" dirty="0">
                <a:solidFill>
                  <a:srgbClr val="FF0000"/>
                </a:solidFill>
              </a:rPr>
              <a:t>한문 교과목 </a:t>
            </a:r>
            <a:r>
              <a:rPr lang="ko-KR" altLang="en-US" sz="1700" dirty="0">
                <a:solidFill>
                  <a:schemeClr val="tx1"/>
                </a:solidFill>
              </a:rPr>
              <a:t>이수 권장</a:t>
            </a:r>
            <a:endParaRPr lang="en-US" altLang="ko-KR" sz="17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15389" y="5541215"/>
            <a:ext cx="4217132" cy="43247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solidFill>
                  <a:schemeClr val="tx1"/>
                </a:solidFill>
              </a:rPr>
              <a:t>인문</a:t>
            </a:r>
            <a:r>
              <a:rPr lang="en-US" altLang="ko-KR" sz="2000" dirty="0">
                <a:solidFill>
                  <a:schemeClr val="tx1"/>
                </a:solidFill>
              </a:rPr>
              <a:t>/</a:t>
            </a:r>
            <a:r>
              <a:rPr lang="ko-KR" altLang="en-US" sz="2000" dirty="0">
                <a:solidFill>
                  <a:schemeClr val="tx1"/>
                </a:solidFill>
              </a:rPr>
              <a:t>사회계열 전공 분야 지원자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7925" y="5676900"/>
            <a:ext cx="538162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수시모집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학기 기준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</a:rPr>
              <a:t>※ </a:t>
            </a:r>
            <a:r>
              <a:rPr lang="ko-KR" altLang="en-US" dirty="0">
                <a:latin typeface="맑은 고딕" panose="020B0503020000020004" pitchFamily="50" charset="-127"/>
              </a:rPr>
              <a:t>정시모집</a:t>
            </a:r>
            <a:r>
              <a:rPr lang="en-US" altLang="ko-KR" dirty="0">
                <a:latin typeface="맑은 고딕" panose="020B0503020000020004" pitchFamily="50" charset="-127"/>
              </a:rPr>
              <a:t> / </a:t>
            </a:r>
            <a:r>
              <a:rPr lang="ko-KR" altLang="en-US" dirty="0">
                <a:latin typeface="맑은 고딕" panose="020B0503020000020004" pitchFamily="50" charset="-127"/>
              </a:rPr>
              <a:t>졸업생</a:t>
            </a:r>
            <a:r>
              <a:rPr lang="en-US" altLang="ko-KR" dirty="0">
                <a:latin typeface="맑은 고딕" panose="020B0503020000020004" pitchFamily="50" charset="-127"/>
              </a:rPr>
              <a:t>: 3</a:t>
            </a:r>
            <a:r>
              <a:rPr lang="ko-KR" altLang="en-US" dirty="0">
                <a:latin typeface="맑은 고딕" panose="020B0503020000020004" pitchFamily="50" charset="-127"/>
              </a:rPr>
              <a:t>학년 </a:t>
            </a:r>
            <a:r>
              <a:rPr lang="en-US" altLang="ko-KR" dirty="0">
                <a:latin typeface="맑은 고딕" panose="020B0503020000020004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</a:rPr>
              <a:t>학기 기준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93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177B77-A45F-41E3-86FB-BD149A79EB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2028 </a:t>
            </a:r>
            <a:r>
              <a:rPr lang="ko-KR" altLang="en-US" dirty="0"/>
              <a:t>서울대 전공 연계 과목 선택 안내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4203E2-C8AD-4925-880B-F5B201F56C3E}"/>
              </a:ext>
            </a:extLst>
          </p:cNvPr>
          <p:cNvSpPr/>
          <p:nvPr/>
        </p:nvSpPr>
        <p:spPr>
          <a:xfrm>
            <a:off x="441273" y="1168458"/>
            <a:ext cx="11309454" cy="51516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서울대학교는 </a:t>
            </a:r>
            <a:r>
              <a:rPr lang="en-US" altLang="ko-KR" b="1" dirty="0">
                <a:solidFill>
                  <a:schemeClr val="tx1"/>
                </a:solidFill>
              </a:rPr>
              <a:t>2022 </a:t>
            </a:r>
            <a:r>
              <a:rPr lang="ko-KR" altLang="en-US" b="1" dirty="0">
                <a:solidFill>
                  <a:schemeClr val="tx1"/>
                </a:solidFill>
              </a:rPr>
              <a:t>개정 교육과정의 취지를 반영해 </a:t>
            </a:r>
            <a:r>
              <a:rPr lang="ko-KR" altLang="en-US" b="1" dirty="0">
                <a:solidFill>
                  <a:srgbClr val="FF0000"/>
                </a:solidFill>
              </a:rPr>
              <a:t>고등학교 교육과정과 대학 교육의 유기적인 연계를 강화</a:t>
            </a:r>
            <a:r>
              <a:rPr lang="ko-KR" altLang="en-US" b="1" dirty="0">
                <a:solidFill>
                  <a:schemeClr val="tx1"/>
                </a:solidFill>
              </a:rPr>
              <a:t>하고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학생들의 진로 탐색과 심화 학습을 효과적으로 지원하기 위해 </a:t>
            </a:r>
            <a:r>
              <a:rPr lang="en-US" altLang="ko-KR" b="1" dirty="0">
                <a:solidFill>
                  <a:schemeClr val="tx1"/>
                </a:solidFill>
              </a:rPr>
              <a:t>『2028</a:t>
            </a:r>
            <a:r>
              <a:rPr lang="ko-KR" altLang="en-US" b="1" dirty="0">
                <a:solidFill>
                  <a:schemeClr val="tx1"/>
                </a:solidFill>
              </a:rPr>
              <a:t>학년도 전공 연계 과목 선택 안내</a:t>
            </a:r>
            <a:r>
              <a:rPr lang="en-US" altLang="ko-KR" b="1" dirty="0">
                <a:solidFill>
                  <a:schemeClr val="tx1"/>
                </a:solidFill>
              </a:rPr>
              <a:t>』</a:t>
            </a:r>
            <a:r>
              <a:rPr lang="ko-KR" altLang="en-US" b="1" dirty="0">
                <a:solidFill>
                  <a:schemeClr val="tx1"/>
                </a:solidFill>
              </a:rPr>
              <a:t>를 마련하였습니다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이번 안내는 기존의 </a:t>
            </a:r>
            <a:r>
              <a:rPr lang="en-US" altLang="ko-KR" b="1" dirty="0">
                <a:solidFill>
                  <a:schemeClr val="tx1"/>
                </a:solidFill>
              </a:rPr>
              <a:t>‘</a:t>
            </a:r>
            <a:r>
              <a:rPr lang="ko-KR" altLang="en-US" b="1" dirty="0" err="1">
                <a:solidFill>
                  <a:schemeClr val="tx1"/>
                </a:solidFill>
              </a:rPr>
              <a:t>교과이수기준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ko-KR" altLang="en-US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Ⅰ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Ⅱ’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전공 연계 교과이수 과목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체계를 단순화하여 통합한 것으로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학생의 과목 선택권을 확대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동시에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전공 탐색 및 융합 교육을 지향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대학 교육의 취지를 반영하여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최소한의 권장과목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제시하였습니다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권장 과목을 별도로 제시하지 않은 모집단위의 경우에는 학생이 </a:t>
            </a:r>
            <a:r>
              <a:rPr lang="ko-KR" altLang="en-US" b="1" dirty="0">
                <a:solidFill>
                  <a:srgbClr val="FF0000"/>
                </a:solidFill>
              </a:rPr>
              <a:t>자신의 진로와 적성에 기반</a:t>
            </a:r>
            <a:r>
              <a:rPr lang="ko-KR" altLang="en-US" b="1" dirty="0">
                <a:solidFill>
                  <a:schemeClr val="tx1"/>
                </a:solidFill>
              </a:rPr>
              <a:t>하여 과목을 선택하고 적극적으로 이수하기를 바랍니다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서울대학교의 전공 연계 권장과목은 </a:t>
            </a:r>
            <a:r>
              <a:rPr lang="ko-KR" altLang="en-US" b="1" dirty="0">
                <a:solidFill>
                  <a:srgbClr val="0070C0"/>
                </a:solidFill>
              </a:rPr>
              <a:t>지원자격과는 무관</a:t>
            </a:r>
            <a:r>
              <a:rPr lang="ko-KR" altLang="en-US" b="1" dirty="0">
                <a:solidFill>
                  <a:schemeClr val="tx1"/>
                </a:solidFill>
              </a:rPr>
              <a:t>하나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모집단위가 권장하는 과목의 이수 여부는 </a:t>
            </a:r>
            <a:r>
              <a:rPr lang="ko-KR" altLang="en-US" b="1" dirty="0">
                <a:solidFill>
                  <a:srgbClr val="FF0000"/>
                </a:solidFill>
              </a:rPr>
              <a:t>수시모집 서류평가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및 정시모집 교과역량평가에 반영</a:t>
            </a:r>
            <a:r>
              <a:rPr lang="ko-KR" altLang="en-US" b="1" dirty="0">
                <a:solidFill>
                  <a:schemeClr val="tx1"/>
                </a:solidFill>
              </a:rPr>
              <a:t>됩니다</a:t>
            </a:r>
            <a:r>
              <a:rPr lang="en-US" altLang="ko-KR" b="1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학생의 과목 이수 내용은 교과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chemeClr val="tx1"/>
                </a:solidFill>
              </a:rPr>
              <a:t>군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r>
              <a:rPr lang="ko-KR" altLang="en-US" b="1" dirty="0">
                <a:solidFill>
                  <a:schemeClr val="tx1"/>
                </a:solidFill>
              </a:rPr>
              <a:t>별 과목의 </a:t>
            </a:r>
            <a:r>
              <a:rPr lang="ko-KR" altLang="en-US" b="1" dirty="0">
                <a:solidFill>
                  <a:srgbClr val="FF0000"/>
                </a:solidFill>
              </a:rPr>
              <a:t>위계를 고려하여 평가</a:t>
            </a:r>
            <a:r>
              <a:rPr lang="ko-KR" altLang="en-US" b="1" dirty="0">
                <a:solidFill>
                  <a:schemeClr val="tx1"/>
                </a:solidFill>
              </a:rPr>
              <a:t>하며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이수 여부 뿐만이 아니라 </a:t>
            </a:r>
            <a:r>
              <a:rPr lang="ko-KR" altLang="en-US" b="1" dirty="0">
                <a:solidFill>
                  <a:srgbClr val="FF0000"/>
                </a:solidFill>
              </a:rPr>
              <a:t>학업 수행 내용과 깊이 있는 학습 경험</a:t>
            </a:r>
            <a:r>
              <a:rPr lang="ko-KR" altLang="en-US" b="1" dirty="0">
                <a:solidFill>
                  <a:schemeClr val="tx1"/>
                </a:solidFill>
              </a:rPr>
              <a:t>을 종합적으로 평가합니다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8361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2937E12-D959-4A51-94AF-4D4BA739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en-US" altLang="ko-KR" dirty="0"/>
              <a:t>2028 </a:t>
            </a:r>
            <a:r>
              <a:rPr lang="ko-KR" altLang="en-US" dirty="0"/>
              <a:t>서울대 전공 연계 과목 선택 안내</a:t>
            </a:r>
            <a:r>
              <a:rPr lang="en-US" altLang="ko-KR" dirty="0"/>
              <a:t>(</a:t>
            </a:r>
            <a:r>
              <a:rPr lang="ko-KR" altLang="en-US" dirty="0"/>
              <a:t>유형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③)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180F265-9AD3-42DA-A78B-9B3BC6C3E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40532"/>
              </p:ext>
            </p:extLst>
          </p:nvPr>
        </p:nvGraphicFramePr>
        <p:xfrm>
          <a:off x="360571" y="1177628"/>
          <a:ext cx="11242746" cy="5574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866">
                  <a:extLst>
                    <a:ext uri="{9D8B030D-6E8A-4147-A177-3AD203B41FA5}">
                      <a16:colId xmlns:a16="http://schemas.microsoft.com/office/drawing/2014/main" val="76568542"/>
                    </a:ext>
                  </a:extLst>
                </a:gridCol>
                <a:gridCol w="2662517">
                  <a:extLst>
                    <a:ext uri="{9D8B030D-6E8A-4147-A177-3AD203B41FA5}">
                      <a16:colId xmlns:a16="http://schemas.microsoft.com/office/drawing/2014/main" val="3629076908"/>
                    </a:ext>
                  </a:extLst>
                </a:gridCol>
                <a:gridCol w="2159990">
                  <a:extLst>
                    <a:ext uri="{9D8B030D-6E8A-4147-A177-3AD203B41FA5}">
                      <a16:colId xmlns:a16="http://schemas.microsoft.com/office/drawing/2014/main" val="3446262654"/>
                    </a:ext>
                  </a:extLst>
                </a:gridCol>
                <a:gridCol w="1873791">
                  <a:extLst>
                    <a:ext uri="{9D8B030D-6E8A-4147-A177-3AD203B41FA5}">
                      <a16:colId xmlns:a16="http://schemas.microsoft.com/office/drawing/2014/main" val="2877123661"/>
                    </a:ext>
                  </a:extLst>
                </a:gridCol>
                <a:gridCol w="1873791">
                  <a:extLst>
                    <a:ext uri="{9D8B030D-6E8A-4147-A177-3AD203B41FA5}">
                      <a16:colId xmlns:a16="http://schemas.microsoft.com/office/drawing/2014/main" val="1335479310"/>
                    </a:ext>
                  </a:extLst>
                </a:gridCol>
                <a:gridCol w="1873791">
                  <a:extLst>
                    <a:ext uri="{9D8B030D-6E8A-4147-A177-3AD203B41FA5}">
                      <a16:colId xmlns:a16="http://schemas.microsoft.com/office/drawing/2014/main" val="2783092775"/>
                    </a:ext>
                  </a:extLst>
                </a:gridCol>
              </a:tblGrid>
              <a:tr h="3331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권장과목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919039"/>
                  </a:ext>
                </a:extLst>
              </a:tr>
              <a:tr h="3331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122399"/>
                  </a:ext>
                </a:extLst>
              </a:tr>
              <a:tr h="32069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500" b="1" dirty="0"/>
                        <a:t>인문대학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사회과학대학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간호대학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경영대학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농업생명과학대학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dirty="0"/>
                        <a:t>농경제사회학부</a:t>
                      </a:r>
                      <a:endParaRPr lang="en-US" altLang="ko-KR" sz="1500" dirty="0"/>
                    </a:p>
                    <a:p>
                      <a:pPr algn="l" latinLnBrk="1"/>
                      <a:r>
                        <a:rPr lang="ko-KR" altLang="en-US" sz="1500" b="1" dirty="0"/>
                        <a:t>사범대학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dirty="0"/>
                        <a:t>교육학과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국어교육과</a:t>
                      </a:r>
                      <a:r>
                        <a:rPr lang="en-US" altLang="ko-KR" sz="15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dirty="0"/>
                        <a:t>영어교육과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독어교육과</a:t>
                      </a:r>
                      <a:r>
                        <a:rPr lang="en-US" altLang="ko-KR" sz="15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dirty="0"/>
                        <a:t>불어교육과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사회교육과</a:t>
                      </a:r>
                      <a:r>
                        <a:rPr lang="en-US" altLang="ko-KR" sz="15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dirty="0"/>
                        <a:t>역사교육과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지리교육과</a:t>
                      </a:r>
                      <a:r>
                        <a:rPr lang="en-US" altLang="ko-KR" sz="15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dirty="0"/>
                        <a:t>윤리교육과</a:t>
                      </a:r>
                      <a:endParaRPr lang="en-US" altLang="ko-KR" sz="1500" dirty="0"/>
                    </a:p>
                    <a:p>
                      <a:pPr algn="l" latinLnBrk="1"/>
                      <a:r>
                        <a:rPr lang="ko-KR" altLang="en-US" sz="1500" b="1" dirty="0"/>
                        <a:t>생활과학대학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dirty="0"/>
                        <a:t>소비자아동학부</a:t>
                      </a:r>
                      <a:r>
                        <a:rPr lang="en-US" altLang="ko-KR" sz="15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dirty="0"/>
                        <a:t>식품영양학과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의류학과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[</a:t>
                      </a:r>
                      <a:r>
                        <a:rPr lang="ko-KR" altLang="en-US" sz="1500" dirty="0"/>
                        <a:t>제</a:t>
                      </a:r>
                      <a:r>
                        <a:rPr lang="en-US" altLang="ko-KR" sz="1500" dirty="0"/>
                        <a:t>2</a:t>
                      </a:r>
                      <a:r>
                        <a:rPr lang="ko-KR" altLang="en-US" sz="1500" dirty="0"/>
                        <a:t>외국어</a:t>
                      </a:r>
                      <a:r>
                        <a:rPr lang="en-US" altLang="ko-KR" sz="1500" dirty="0"/>
                        <a:t>/</a:t>
                      </a:r>
                      <a:r>
                        <a:rPr lang="ko-KR" altLang="en-US" sz="1500" dirty="0"/>
                        <a:t>한문</a:t>
                      </a:r>
                      <a:r>
                        <a:rPr lang="en-US" altLang="ko-KR" sz="1500" dirty="0"/>
                        <a:t>]</a:t>
                      </a:r>
                      <a:endParaRPr lang="ko-KR" altLang="en-US" sz="15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</a:t>
                      </a:r>
                      <a:r>
                        <a:rPr lang="ko-KR" altLang="en-US" sz="1500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826017"/>
                  </a:ext>
                </a:extLst>
              </a:tr>
              <a:tr h="13225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500" b="1" dirty="0"/>
                        <a:t>미술대학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사범대학</a:t>
                      </a:r>
                      <a:r>
                        <a:rPr lang="ko-KR" altLang="en-US" sz="1500" dirty="0"/>
                        <a:t> 체육교육과</a:t>
                      </a:r>
                      <a:endParaRPr lang="en-US" altLang="ko-KR" sz="1500" dirty="0"/>
                    </a:p>
                    <a:p>
                      <a:pPr algn="l" latinLnBrk="1"/>
                      <a:r>
                        <a:rPr lang="ko-KR" altLang="en-US" sz="1500" b="1" dirty="0"/>
                        <a:t>음악대학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학부대학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-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-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-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-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17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887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30201F9-093A-44D8-8D5F-53DD825895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en-US" altLang="ko-KR" dirty="0"/>
              <a:t>2028 </a:t>
            </a:r>
            <a:r>
              <a:rPr lang="ko-KR" altLang="en-US" dirty="0"/>
              <a:t>서울대 전공 연계 과목 선택 안내</a:t>
            </a:r>
            <a:r>
              <a:rPr lang="en-US" altLang="ko-KR" dirty="0"/>
              <a:t>(</a:t>
            </a:r>
            <a:r>
              <a:rPr lang="ko-KR" altLang="en-US" dirty="0"/>
              <a:t>유형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ABE2B74-D668-4136-AB10-882E6516C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978594"/>
              </p:ext>
            </p:extLst>
          </p:nvPr>
        </p:nvGraphicFramePr>
        <p:xfrm>
          <a:off x="407760" y="1018167"/>
          <a:ext cx="11075537" cy="569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961">
                  <a:extLst>
                    <a:ext uri="{9D8B030D-6E8A-4147-A177-3AD203B41FA5}">
                      <a16:colId xmlns:a16="http://schemas.microsoft.com/office/drawing/2014/main" val="76568542"/>
                    </a:ext>
                  </a:extLst>
                </a:gridCol>
                <a:gridCol w="2877671">
                  <a:extLst>
                    <a:ext uri="{9D8B030D-6E8A-4147-A177-3AD203B41FA5}">
                      <a16:colId xmlns:a16="http://schemas.microsoft.com/office/drawing/2014/main" val="3629076908"/>
                    </a:ext>
                  </a:extLst>
                </a:gridCol>
                <a:gridCol w="869576">
                  <a:extLst>
                    <a:ext uri="{9D8B030D-6E8A-4147-A177-3AD203B41FA5}">
                      <a16:colId xmlns:a16="http://schemas.microsoft.com/office/drawing/2014/main" val="3446262654"/>
                    </a:ext>
                  </a:extLst>
                </a:gridCol>
                <a:gridCol w="2223247">
                  <a:extLst>
                    <a:ext uri="{9D8B030D-6E8A-4147-A177-3AD203B41FA5}">
                      <a16:colId xmlns:a16="http://schemas.microsoft.com/office/drawing/2014/main" val="2877123661"/>
                    </a:ext>
                  </a:extLst>
                </a:gridCol>
                <a:gridCol w="927592">
                  <a:extLst>
                    <a:ext uri="{9D8B030D-6E8A-4147-A177-3AD203B41FA5}">
                      <a16:colId xmlns:a16="http://schemas.microsoft.com/office/drawing/2014/main" val="1386393812"/>
                    </a:ext>
                  </a:extLst>
                </a:gridCol>
                <a:gridCol w="2453833">
                  <a:extLst>
                    <a:ext uri="{9D8B030D-6E8A-4147-A177-3AD203B41FA5}">
                      <a16:colId xmlns:a16="http://schemas.microsoft.com/office/drawing/2014/main" val="1335479310"/>
                    </a:ext>
                  </a:extLst>
                </a:gridCol>
                <a:gridCol w="1077657">
                  <a:extLst>
                    <a:ext uri="{9D8B030D-6E8A-4147-A177-3AD203B41FA5}">
                      <a16:colId xmlns:a16="http://schemas.microsoft.com/office/drawing/2014/main" val="2783092775"/>
                    </a:ext>
                  </a:extLst>
                </a:gridCol>
              </a:tblGrid>
              <a:tr h="307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유형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교과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군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권장과목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919039"/>
                  </a:ext>
                </a:extLst>
              </a:tr>
              <a:tr h="20913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일반선택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122399"/>
                  </a:ext>
                </a:extLst>
              </a:tr>
              <a:tr h="921971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</a:t>
                      </a:r>
                      <a:endParaRPr lang="ko-KR" altLang="en-US" dirty="0"/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l" latinLnBrk="1"/>
                      <a:r>
                        <a:rPr lang="ko-KR" altLang="en-US" sz="1500" b="1" dirty="0"/>
                        <a:t>자연과학대학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간호대학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공과대학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농업생명과학대학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0" dirty="0"/>
                        <a:t>식물생산과학부</a:t>
                      </a:r>
                      <a:r>
                        <a:rPr lang="en-US" altLang="ko-KR" sz="1500" b="0" dirty="0"/>
                        <a:t>, </a:t>
                      </a:r>
                      <a:r>
                        <a:rPr lang="ko-KR" altLang="en-US" sz="1500" b="0" dirty="0"/>
                        <a:t>산림과학부</a:t>
                      </a:r>
                      <a:r>
                        <a:rPr lang="en-US" altLang="ko-KR" sz="15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b="0" dirty="0" err="1"/>
                        <a:t>식품∙동물생명공학부</a:t>
                      </a:r>
                      <a:r>
                        <a:rPr lang="en-US" altLang="ko-KR" sz="1500" b="0" dirty="0"/>
                        <a:t>, </a:t>
                      </a:r>
                    </a:p>
                    <a:p>
                      <a:pPr algn="l" latinLnBrk="1"/>
                      <a:r>
                        <a:rPr lang="ko-KR" altLang="en-US" sz="1500" b="0" dirty="0"/>
                        <a:t>응용생물화학부</a:t>
                      </a:r>
                      <a:r>
                        <a:rPr lang="en-US" altLang="ko-KR" sz="15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b="0" dirty="0" err="1"/>
                        <a:t>조경∙지역시스템공학부</a:t>
                      </a:r>
                      <a:r>
                        <a:rPr lang="en-US" altLang="ko-KR" sz="15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b="0" dirty="0" err="1"/>
                        <a:t>바이오시스템∙소재학부</a:t>
                      </a:r>
                      <a:r>
                        <a:rPr lang="en-US" altLang="ko-KR" sz="15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b="0" dirty="0"/>
                        <a:t>스마트시스템과학과</a:t>
                      </a:r>
                      <a:endParaRPr lang="en-US" altLang="ko-KR" sz="1500" b="0" dirty="0"/>
                    </a:p>
                    <a:p>
                      <a:pPr algn="l" latinLnBrk="1"/>
                      <a:r>
                        <a:rPr lang="ko-KR" altLang="en-US" sz="1500" b="1" dirty="0"/>
                        <a:t>사범대학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0" dirty="0"/>
                        <a:t>수학교육과</a:t>
                      </a:r>
                      <a:r>
                        <a:rPr lang="en-US" altLang="ko-KR" sz="1500" b="0" dirty="0"/>
                        <a:t>, </a:t>
                      </a:r>
                      <a:r>
                        <a:rPr lang="ko-KR" altLang="en-US" sz="1500" b="0" dirty="0"/>
                        <a:t>물리교육과</a:t>
                      </a:r>
                      <a:r>
                        <a:rPr lang="en-US" altLang="ko-KR" sz="15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b="0" dirty="0"/>
                        <a:t>화학교육과</a:t>
                      </a:r>
                      <a:r>
                        <a:rPr lang="en-US" altLang="ko-KR" sz="1500" b="0" dirty="0"/>
                        <a:t>, </a:t>
                      </a:r>
                      <a:r>
                        <a:rPr lang="ko-KR" altLang="en-US" sz="1500" b="0" dirty="0"/>
                        <a:t>생물교육과</a:t>
                      </a:r>
                      <a:r>
                        <a:rPr lang="en-US" altLang="ko-KR" sz="15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500" b="0" dirty="0"/>
                        <a:t>지구과학교육과</a:t>
                      </a:r>
                      <a:endParaRPr lang="en-US" altLang="ko-KR" sz="1500" b="0" dirty="0"/>
                    </a:p>
                    <a:p>
                      <a:pPr algn="l" latinLnBrk="1"/>
                      <a:r>
                        <a:rPr lang="ko-KR" altLang="en-US" sz="1500" b="1" dirty="0"/>
                        <a:t>생활과학대학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0" dirty="0"/>
                        <a:t>식품영양학과</a:t>
                      </a:r>
                      <a:r>
                        <a:rPr lang="en-US" altLang="ko-KR" sz="1500" b="0" dirty="0"/>
                        <a:t>, </a:t>
                      </a:r>
                      <a:r>
                        <a:rPr lang="ko-KR" altLang="en-US" sz="1500" b="0" dirty="0"/>
                        <a:t>의류학과</a:t>
                      </a:r>
                      <a:endParaRPr lang="en-US" altLang="ko-KR" sz="1500" b="0" dirty="0"/>
                    </a:p>
                    <a:p>
                      <a:pPr algn="l" latinLnBrk="1"/>
                      <a:r>
                        <a:rPr lang="ko-KR" altLang="en-US" sz="1500" b="1" dirty="0"/>
                        <a:t>수의과대학</a:t>
                      </a:r>
                      <a:r>
                        <a:rPr lang="en-US" altLang="ko-KR" sz="1500" b="1" dirty="0"/>
                        <a:t>,</a:t>
                      </a:r>
                      <a:r>
                        <a:rPr lang="ko-KR" altLang="en-US" sz="1500" b="1" dirty="0"/>
                        <a:t>약학대학</a:t>
                      </a:r>
                      <a:r>
                        <a:rPr lang="en-US" altLang="ko-KR" sz="1500" b="1" dirty="0"/>
                        <a:t>, </a:t>
                      </a:r>
                      <a:r>
                        <a:rPr lang="ko-KR" altLang="en-US" sz="1500" b="1" dirty="0"/>
                        <a:t>의과대학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첨단융합학부</a:t>
                      </a:r>
                      <a:endParaRPr lang="en-US" altLang="ko-KR" sz="1500" b="1" dirty="0"/>
                    </a:p>
                    <a:p>
                      <a:pPr algn="l" latinLnBrk="1"/>
                      <a:r>
                        <a:rPr lang="ko-KR" altLang="en-US" sz="1500" b="1" dirty="0"/>
                        <a:t>치의학대학원</a:t>
                      </a:r>
                      <a:r>
                        <a:rPr lang="ko-KR" altLang="en-US" sz="1500" b="0" dirty="0"/>
                        <a:t> 치의학과</a:t>
                      </a:r>
                      <a:endParaRPr lang="en-US" altLang="ko-KR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[</a:t>
                      </a:r>
                      <a:r>
                        <a:rPr lang="ko-KR" altLang="en-US" sz="1500" dirty="0"/>
                        <a:t>수학</a:t>
                      </a:r>
                      <a:r>
                        <a:rPr lang="en-US" altLang="ko-KR" sz="1500" dirty="0"/>
                        <a:t>]</a:t>
                      </a:r>
                      <a:endParaRPr lang="ko-KR" altLang="en-US" sz="15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-</a:t>
                      </a:r>
                      <a:endParaRPr lang="ko-KR" altLang="en-US" sz="15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기하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미적분</a:t>
                      </a: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</a:t>
                      </a:r>
                    </a:p>
                    <a:p>
                      <a:pPr algn="ctr" latinLnBrk="1"/>
                      <a:r>
                        <a:rPr lang="en-US" altLang="ko-KR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간호대학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치의학대학원 치의학과는 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또는 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미적분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Ⅱ’)</a:t>
                      </a:r>
                      <a:endParaRPr lang="ko-KR" altLang="en-US" sz="15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-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826017"/>
                  </a:ext>
                </a:extLst>
              </a:tr>
              <a:tr h="447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[</a:t>
                      </a:r>
                      <a:r>
                        <a:rPr lang="ko-KR" altLang="en-US" sz="1500" dirty="0"/>
                        <a:t>과학</a:t>
                      </a:r>
                      <a:r>
                        <a:rPr lang="en-US" altLang="ko-KR" sz="1500" dirty="0"/>
                        <a:t>]</a:t>
                      </a:r>
                      <a:endParaRPr lang="ko-KR" altLang="en-US" sz="15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/>
                        <a:t>아래 모집단위의 경우 제시한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일반 선택 과목을 우선 이수</a:t>
                      </a:r>
                      <a:r>
                        <a:rPr lang="ko-KR" altLang="en-US" sz="1300" dirty="0"/>
                        <a:t>하는 것을 권장함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</a:t>
                      </a:r>
                      <a:r>
                        <a:rPr lang="ko-KR" altLang="en-US" sz="1500" dirty="0"/>
                        <a:t>과목 이상</a:t>
                      </a:r>
                      <a:endParaRPr lang="en-US" altLang="ko-KR" sz="1500" dirty="0"/>
                    </a:p>
                    <a:p>
                      <a:pPr algn="ctr" latinLnBrk="1"/>
                      <a:r>
                        <a:rPr lang="en-US" altLang="ko-KR" sz="1500" b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</a:rPr>
                        <a:t>단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</a:rPr>
                        <a:t>의과대학은 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</a:rPr>
                        <a:t>‘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</a:rPr>
                        <a:t>세포와 물질대사‘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</a:rPr>
                        <a:t>생물의 유전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</a:rPr>
                        <a:t>’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</a:rPr>
                        <a:t>을 포함하여 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</a:rPr>
                        <a:t>3</a:t>
                      </a:r>
                      <a:r>
                        <a:rPr lang="ko-KR" altLang="en-US" sz="1500" b="1" dirty="0">
                          <a:solidFill>
                            <a:srgbClr val="0070C0"/>
                          </a:solidFill>
                        </a:rPr>
                        <a:t>과목 이상</a:t>
                      </a:r>
                      <a:r>
                        <a:rPr lang="en-US" altLang="ko-KR" sz="15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ko-KR" altLang="en-US" sz="15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-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422811"/>
                  </a:ext>
                </a:extLst>
              </a:tr>
              <a:tr h="11594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/>
                        <a:t>자연과학대학</a:t>
                      </a:r>
                      <a:endParaRPr lang="en-US" altLang="ko-KR" sz="1100" b="1" dirty="0"/>
                    </a:p>
                    <a:p>
                      <a:pPr algn="l" latinLnBrk="1"/>
                      <a:r>
                        <a:rPr lang="ko-KR" altLang="en-US" sz="1100" dirty="0" err="1"/>
                        <a:t>물리∙천문학부</a:t>
                      </a:r>
                      <a:r>
                        <a:rPr lang="ko-KR" altLang="en-US" sz="1100" dirty="0"/>
                        <a:t> 물리학전공</a:t>
                      </a:r>
                      <a:endParaRPr lang="en-US" altLang="ko-KR" sz="1100" dirty="0"/>
                    </a:p>
                    <a:p>
                      <a:pPr algn="l" latinLnBrk="1"/>
                      <a:r>
                        <a:rPr lang="ko-KR" altLang="en-US" sz="1100" b="1" dirty="0"/>
                        <a:t>공과대학</a:t>
                      </a:r>
                      <a:endParaRPr lang="en-US" altLang="ko-KR" sz="1100" b="1" dirty="0"/>
                    </a:p>
                    <a:p>
                      <a:pPr algn="l" latinLnBrk="1"/>
                      <a:r>
                        <a:rPr lang="ko-KR" altLang="en-US" sz="1100" dirty="0"/>
                        <a:t>기계공학부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전기∙정보공학부</a:t>
                      </a:r>
                      <a:r>
                        <a:rPr lang="en-US" altLang="ko-KR" sz="11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100" dirty="0"/>
                        <a:t>원자핵공학과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조선해양공학과</a:t>
                      </a:r>
                      <a:r>
                        <a:rPr lang="en-US" altLang="ko-KR" sz="11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100" dirty="0"/>
                        <a:t>항공우주공학과</a:t>
                      </a:r>
                      <a:endParaRPr lang="en-US" altLang="ko-KR" sz="1100" dirty="0"/>
                    </a:p>
                    <a:p>
                      <a:pPr algn="l" latinLnBrk="1"/>
                      <a:r>
                        <a:rPr lang="ko-KR" altLang="en-US" sz="1100" b="1" dirty="0"/>
                        <a:t>사범대학</a:t>
                      </a:r>
                      <a:r>
                        <a:rPr lang="ko-KR" altLang="en-US" sz="1100" dirty="0"/>
                        <a:t> 물리교육과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물리학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829896"/>
                  </a:ext>
                </a:extLst>
              </a:tr>
              <a:tr h="391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/>
                        <a:t>자연과학대학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화학부</a:t>
                      </a:r>
                      <a:endParaRPr lang="en-US" altLang="ko-KR" sz="1100" dirty="0"/>
                    </a:p>
                    <a:p>
                      <a:pPr algn="l" latinLnBrk="1"/>
                      <a:r>
                        <a:rPr lang="ko-KR" altLang="en-US" sz="1100" b="1" dirty="0"/>
                        <a:t>사범대학</a:t>
                      </a:r>
                      <a:r>
                        <a:rPr lang="ko-KR" altLang="en-US" sz="1100" dirty="0"/>
                        <a:t> 화학교육과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화학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222"/>
                  </a:ext>
                </a:extLst>
              </a:tr>
              <a:tr h="5448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/>
                        <a:t>자연과학대학</a:t>
                      </a:r>
                      <a:r>
                        <a:rPr lang="ko-KR" altLang="en-US" sz="1100" dirty="0"/>
                        <a:t> 생명과학부</a:t>
                      </a:r>
                      <a:endParaRPr lang="en-US" altLang="ko-KR" sz="1100" dirty="0"/>
                    </a:p>
                    <a:p>
                      <a:pPr algn="l" latinLnBrk="1"/>
                      <a:r>
                        <a:rPr lang="ko-KR" altLang="en-US" sz="1100" b="1" dirty="0"/>
                        <a:t>사범대학</a:t>
                      </a:r>
                      <a:r>
                        <a:rPr lang="ko-KR" altLang="en-US" sz="1100" dirty="0"/>
                        <a:t> 생물교육과</a:t>
                      </a:r>
                      <a:endParaRPr lang="en-US" altLang="ko-KR" sz="1100" dirty="0"/>
                    </a:p>
                    <a:p>
                      <a:pPr algn="l" latinLnBrk="1"/>
                      <a:r>
                        <a:rPr lang="ko-KR" altLang="en-US" sz="1100" b="1" dirty="0"/>
                        <a:t>의과대학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생명과학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69183"/>
                  </a:ext>
                </a:extLst>
              </a:tr>
              <a:tr h="698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/>
                        <a:t>자연과학대학</a:t>
                      </a:r>
                      <a:r>
                        <a:rPr lang="ko-KR" altLang="en-US" sz="1100" dirty="0"/>
                        <a:t> </a:t>
                      </a:r>
                      <a:endParaRPr lang="en-US" altLang="ko-KR" sz="1100" dirty="0"/>
                    </a:p>
                    <a:p>
                      <a:pPr algn="l" latinLnBrk="1"/>
                      <a:r>
                        <a:rPr lang="ko-KR" altLang="en-US" sz="1100" dirty="0" err="1"/>
                        <a:t>물리∙천문학부</a:t>
                      </a:r>
                      <a:r>
                        <a:rPr lang="ko-KR" altLang="en-US" sz="1100" dirty="0"/>
                        <a:t> 천문학전공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algn="l" latinLnBrk="1"/>
                      <a:r>
                        <a:rPr lang="ko-KR" altLang="en-US" sz="1100" b="1" dirty="0"/>
                        <a:t>지구환경과학부</a:t>
                      </a:r>
                      <a:endParaRPr lang="en-US" altLang="ko-KR" sz="1100" b="1" dirty="0"/>
                    </a:p>
                    <a:p>
                      <a:pPr algn="l" latinLnBrk="1"/>
                      <a:r>
                        <a:rPr lang="ko-KR" altLang="en-US" sz="1100" b="1" dirty="0"/>
                        <a:t>사범대학</a:t>
                      </a:r>
                      <a:r>
                        <a:rPr lang="ko-KR" altLang="en-US" sz="1100" dirty="0"/>
                        <a:t> 지구과학교육과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지구과학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735996"/>
                  </a:ext>
                </a:extLst>
              </a:tr>
              <a:tr h="447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/>
                        <a:t>약학대학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화학 또는 생명과학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3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347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8E39F3F-C051-4508-9289-9B8530C054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2022 </a:t>
            </a:r>
            <a:r>
              <a:rPr lang="ko-KR" altLang="en-US" dirty="0"/>
              <a:t>개정교육과정 수학 과목 위계도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3297AC-FB83-4700-80B0-AF9A7982055E}"/>
              </a:ext>
            </a:extLst>
          </p:cNvPr>
          <p:cNvSpPr/>
          <p:nvPr/>
        </p:nvSpPr>
        <p:spPr>
          <a:xfrm>
            <a:off x="650450" y="1800519"/>
            <a:ext cx="1743958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공통수학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A65172-7727-4838-B282-1FEA0EF82830}"/>
              </a:ext>
            </a:extLst>
          </p:cNvPr>
          <p:cNvSpPr/>
          <p:nvPr/>
        </p:nvSpPr>
        <p:spPr>
          <a:xfrm>
            <a:off x="650450" y="2413510"/>
            <a:ext cx="1743958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공통수학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4519ED-005E-4B8C-B68F-6EF56F3A87CE}"/>
              </a:ext>
            </a:extLst>
          </p:cNvPr>
          <p:cNvSpPr/>
          <p:nvPr/>
        </p:nvSpPr>
        <p:spPr>
          <a:xfrm>
            <a:off x="2942734" y="1800519"/>
            <a:ext cx="18555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대수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B11C0C-3218-42E9-B2DD-1D523939750F}"/>
              </a:ext>
            </a:extLst>
          </p:cNvPr>
          <p:cNvSpPr/>
          <p:nvPr/>
        </p:nvSpPr>
        <p:spPr>
          <a:xfrm>
            <a:off x="2942734" y="2413510"/>
            <a:ext cx="18555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미적분 </a:t>
            </a:r>
            <a:r>
              <a:rPr lang="en-US" altLang="ko-KR" b="1" dirty="0">
                <a:solidFill>
                  <a:schemeClr val="tx1"/>
                </a:solidFill>
              </a:rPr>
              <a:t>Ⅰ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A9338A-9A22-4E08-9FF3-9A0E2E3A384A}"/>
              </a:ext>
            </a:extLst>
          </p:cNvPr>
          <p:cNvSpPr/>
          <p:nvPr/>
        </p:nvSpPr>
        <p:spPr>
          <a:xfrm>
            <a:off x="2942734" y="3085168"/>
            <a:ext cx="18555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확률과 통계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484746-4CD9-4E3E-9458-5840B7CA2CDE}"/>
              </a:ext>
            </a:extLst>
          </p:cNvPr>
          <p:cNvSpPr/>
          <p:nvPr/>
        </p:nvSpPr>
        <p:spPr>
          <a:xfrm>
            <a:off x="650450" y="3085169"/>
            <a:ext cx="1743958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기본수학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727BA6-8A3F-4334-B160-1CC7FF31B5D5}"/>
              </a:ext>
            </a:extLst>
          </p:cNvPr>
          <p:cNvSpPr/>
          <p:nvPr/>
        </p:nvSpPr>
        <p:spPr>
          <a:xfrm>
            <a:off x="655949" y="3756830"/>
            <a:ext cx="1743958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기본수학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412114-E423-4418-80A5-EC9D32F94730}"/>
              </a:ext>
            </a:extLst>
          </p:cNvPr>
          <p:cNvSpPr/>
          <p:nvPr/>
        </p:nvSpPr>
        <p:spPr>
          <a:xfrm>
            <a:off x="2942733" y="3756830"/>
            <a:ext cx="185550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인공지능 수학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81D0CA-2E0B-4F5B-A944-4B8FA282596B}"/>
              </a:ext>
            </a:extLst>
          </p:cNvPr>
          <p:cNvSpPr/>
          <p:nvPr/>
        </p:nvSpPr>
        <p:spPr>
          <a:xfrm>
            <a:off x="2942733" y="4428488"/>
            <a:ext cx="185550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직무 수학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588AA6-6FEC-445B-8534-F64182C3413E}"/>
              </a:ext>
            </a:extLst>
          </p:cNvPr>
          <p:cNvSpPr/>
          <p:nvPr/>
        </p:nvSpPr>
        <p:spPr>
          <a:xfrm>
            <a:off x="2942733" y="5100146"/>
            <a:ext cx="1855509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수학과 문화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C46C15-A32B-4171-8F98-41FC00169C6D}"/>
              </a:ext>
            </a:extLst>
          </p:cNvPr>
          <p:cNvSpPr/>
          <p:nvPr/>
        </p:nvSpPr>
        <p:spPr>
          <a:xfrm>
            <a:off x="2942733" y="5771804"/>
            <a:ext cx="1855509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실용통계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F76C13-26E9-4B1D-8609-5D91182327EC}"/>
              </a:ext>
            </a:extLst>
          </p:cNvPr>
          <p:cNvSpPr/>
          <p:nvPr/>
        </p:nvSpPr>
        <p:spPr>
          <a:xfrm>
            <a:off x="5048836" y="5694460"/>
            <a:ext cx="1855509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수학과제 탐구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10BDA3-E1CA-49DC-A50D-1F47AE94A98C}"/>
              </a:ext>
            </a:extLst>
          </p:cNvPr>
          <p:cNvSpPr/>
          <p:nvPr/>
        </p:nvSpPr>
        <p:spPr>
          <a:xfrm>
            <a:off x="5168245" y="3085168"/>
            <a:ext cx="138338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미적분 </a:t>
            </a:r>
            <a:r>
              <a:rPr lang="en-US" altLang="ko-KR" b="1" dirty="0">
                <a:solidFill>
                  <a:schemeClr val="tx1"/>
                </a:solidFill>
              </a:rPr>
              <a:t>Ⅱ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703593-2293-42BA-B7D6-092E264D2690}"/>
              </a:ext>
            </a:extLst>
          </p:cNvPr>
          <p:cNvSpPr/>
          <p:nvPr/>
        </p:nvSpPr>
        <p:spPr>
          <a:xfrm>
            <a:off x="5168245" y="2459183"/>
            <a:ext cx="138338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기하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BC59D3C-5B7A-4A69-A7A9-718FA01FD33A}"/>
              </a:ext>
            </a:extLst>
          </p:cNvPr>
          <p:cNvSpPr/>
          <p:nvPr/>
        </p:nvSpPr>
        <p:spPr>
          <a:xfrm>
            <a:off x="5168244" y="1833198"/>
            <a:ext cx="138338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경제수학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C3FA823-BCF8-4DDB-8340-A328C1CE1411}"/>
              </a:ext>
            </a:extLst>
          </p:cNvPr>
          <p:cNvSpPr/>
          <p:nvPr/>
        </p:nvSpPr>
        <p:spPr>
          <a:xfrm>
            <a:off x="5168243" y="1207213"/>
            <a:ext cx="138338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이산수학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BBC971-131E-4109-A36C-F8D2A7C71056}"/>
              </a:ext>
            </a:extLst>
          </p:cNvPr>
          <p:cNvSpPr/>
          <p:nvPr/>
        </p:nvSpPr>
        <p:spPr>
          <a:xfrm>
            <a:off x="7215430" y="3085168"/>
            <a:ext cx="1240413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전문수학 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B25A2C0-461A-450F-B943-4D5377569A9B}"/>
              </a:ext>
            </a:extLst>
          </p:cNvPr>
          <p:cNvSpPr/>
          <p:nvPr/>
        </p:nvSpPr>
        <p:spPr>
          <a:xfrm>
            <a:off x="9249266" y="3059128"/>
            <a:ext cx="174395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고급 대수 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6D47B2-7ACE-4522-8A28-CFA16D0C054B}"/>
              </a:ext>
            </a:extLst>
          </p:cNvPr>
          <p:cNvSpPr/>
          <p:nvPr/>
        </p:nvSpPr>
        <p:spPr>
          <a:xfrm>
            <a:off x="9249266" y="3730790"/>
            <a:ext cx="174395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고급 미적분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664C362-8A30-492E-A66F-3B79135BC9A6}"/>
              </a:ext>
            </a:extLst>
          </p:cNvPr>
          <p:cNvSpPr/>
          <p:nvPr/>
        </p:nvSpPr>
        <p:spPr>
          <a:xfrm>
            <a:off x="9249266" y="2413510"/>
            <a:ext cx="174395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고급 기하 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E136227-CFE6-4AF8-BDF9-ABD7C810AD13}"/>
              </a:ext>
            </a:extLst>
          </p:cNvPr>
          <p:cNvCxnSpPr>
            <a:stCxn id="5" idx="3"/>
          </p:cNvCxnSpPr>
          <p:nvPr/>
        </p:nvCxnSpPr>
        <p:spPr>
          <a:xfrm flipV="1">
            <a:off x="4798242" y="1583703"/>
            <a:ext cx="370001" cy="4476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4AB2114-C9B4-4CB0-935E-3EC6F8A3185A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798242" y="2031352"/>
            <a:ext cx="54832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AD87BED-CFB5-4FC5-AF27-B49C683EDB67}"/>
              </a:ext>
            </a:extLst>
          </p:cNvPr>
          <p:cNvCxnSpPr>
            <a:cxnSpLocks/>
          </p:cNvCxnSpPr>
          <p:nvPr/>
        </p:nvCxnSpPr>
        <p:spPr>
          <a:xfrm>
            <a:off x="4798242" y="2031352"/>
            <a:ext cx="443061" cy="4278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D1CF3D-55E2-4E24-97F2-BDB3C6CEF823}"/>
              </a:ext>
            </a:extLst>
          </p:cNvPr>
          <p:cNvCxnSpPr>
            <a:cxnSpLocks/>
          </p:cNvCxnSpPr>
          <p:nvPr/>
        </p:nvCxnSpPr>
        <p:spPr>
          <a:xfrm>
            <a:off x="4751892" y="2683441"/>
            <a:ext cx="443061" cy="4278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2C7BE71-EDCB-4705-AF43-462702277EFD}"/>
              </a:ext>
            </a:extLst>
          </p:cNvPr>
          <p:cNvCxnSpPr>
            <a:cxnSpLocks/>
          </p:cNvCxnSpPr>
          <p:nvPr/>
        </p:nvCxnSpPr>
        <p:spPr>
          <a:xfrm>
            <a:off x="6630182" y="3316000"/>
            <a:ext cx="54832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3B0AC0D-DF9A-46A8-B992-44AC736CEC90}"/>
              </a:ext>
            </a:extLst>
          </p:cNvPr>
          <p:cNvCxnSpPr>
            <a:cxnSpLocks/>
          </p:cNvCxnSpPr>
          <p:nvPr/>
        </p:nvCxnSpPr>
        <p:spPr>
          <a:xfrm>
            <a:off x="8554822" y="3316000"/>
            <a:ext cx="54832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769769-B35B-4B54-AEBE-E078B0DD6D6A}"/>
              </a:ext>
            </a:extLst>
          </p:cNvPr>
          <p:cNvSpPr/>
          <p:nvPr/>
        </p:nvSpPr>
        <p:spPr>
          <a:xfrm>
            <a:off x="546755" y="1668878"/>
            <a:ext cx="1952917" cy="2639171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16989D-3210-4876-882E-211E56A7D9E4}"/>
              </a:ext>
            </a:extLst>
          </p:cNvPr>
          <p:cNvSpPr/>
          <p:nvPr/>
        </p:nvSpPr>
        <p:spPr>
          <a:xfrm>
            <a:off x="2903456" y="1676572"/>
            <a:ext cx="1952917" cy="4677094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B0E83E4-D679-4797-9FD1-6233214B50CE}"/>
              </a:ext>
            </a:extLst>
          </p:cNvPr>
          <p:cNvSpPr/>
          <p:nvPr/>
        </p:nvSpPr>
        <p:spPr>
          <a:xfrm>
            <a:off x="4856334" y="5577484"/>
            <a:ext cx="2310744" cy="695619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9136F7F-9348-4661-A22D-09D1482DC3E4}"/>
              </a:ext>
            </a:extLst>
          </p:cNvPr>
          <p:cNvSpPr/>
          <p:nvPr/>
        </p:nvSpPr>
        <p:spPr>
          <a:xfrm>
            <a:off x="9144786" y="2294863"/>
            <a:ext cx="1952917" cy="2013179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205CA3A-70FB-409E-984D-33DFBC410C5D}"/>
              </a:ext>
            </a:extLst>
          </p:cNvPr>
          <p:cNvCxnSpPr>
            <a:cxnSpLocks/>
          </p:cNvCxnSpPr>
          <p:nvPr/>
        </p:nvCxnSpPr>
        <p:spPr>
          <a:xfrm>
            <a:off x="2435048" y="3005968"/>
            <a:ext cx="54832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9615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7F0D6CF-5CDF-414E-AE1B-E446FC170E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2022 </a:t>
            </a:r>
            <a:r>
              <a:rPr lang="ko-KR" altLang="en-US" dirty="0"/>
              <a:t>개정교육과정 과학 과목 위계도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2A1BD6-FD4D-4359-B477-F9ACF6573CA8}"/>
              </a:ext>
            </a:extLst>
          </p:cNvPr>
          <p:cNvSpPr/>
          <p:nvPr/>
        </p:nvSpPr>
        <p:spPr>
          <a:xfrm>
            <a:off x="269732" y="2935450"/>
            <a:ext cx="1743958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통합과학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233E91-DF6C-47BB-8FCE-01B278FBE41E}"/>
              </a:ext>
            </a:extLst>
          </p:cNvPr>
          <p:cNvSpPr/>
          <p:nvPr/>
        </p:nvSpPr>
        <p:spPr>
          <a:xfrm>
            <a:off x="269732" y="3548441"/>
            <a:ext cx="1743958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통합과학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61B4C7-68CA-4D0A-9DB7-076374A1F978}"/>
              </a:ext>
            </a:extLst>
          </p:cNvPr>
          <p:cNvSpPr/>
          <p:nvPr/>
        </p:nvSpPr>
        <p:spPr>
          <a:xfrm>
            <a:off x="269732" y="4220100"/>
            <a:ext cx="1743958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과학탐구실험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B7991A-C2E3-432B-8E0F-81A14E8CCA64}"/>
              </a:ext>
            </a:extLst>
          </p:cNvPr>
          <p:cNvSpPr/>
          <p:nvPr/>
        </p:nvSpPr>
        <p:spPr>
          <a:xfrm>
            <a:off x="275231" y="4891761"/>
            <a:ext cx="1743958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과학탐구실험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E63E96-C6B9-4BDD-BD45-2A8E87A8CE66}"/>
              </a:ext>
            </a:extLst>
          </p:cNvPr>
          <p:cNvSpPr/>
          <p:nvPr/>
        </p:nvSpPr>
        <p:spPr>
          <a:xfrm>
            <a:off x="166037" y="2803809"/>
            <a:ext cx="1952917" cy="2639171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A3CBED-9656-4572-946D-B20AD4A06A98}"/>
              </a:ext>
            </a:extLst>
          </p:cNvPr>
          <p:cNvSpPr/>
          <p:nvPr/>
        </p:nvSpPr>
        <p:spPr>
          <a:xfrm>
            <a:off x="2588911" y="1947023"/>
            <a:ext cx="1855508" cy="10471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물리학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F1BB22-85AE-4D2F-B969-44706B7C2DAC}"/>
              </a:ext>
            </a:extLst>
          </p:cNvPr>
          <p:cNvSpPr/>
          <p:nvPr/>
        </p:nvSpPr>
        <p:spPr>
          <a:xfrm>
            <a:off x="2598337" y="3086776"/>
            <a:ext cx="1855508" cy="981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화학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8C74CA-54C2-4BCA-8301-14AA187444AD}"/>
              </a:ext>
            </a:extLst>
          </p:cNvPr>
          <p:cNvSpPr/>
          <p:nvPr/>
        </p:nvSpPr>
        <p:spPr>
          <a:xfrm>
            <a:off x="2549633" y="1808481"/>
            <a:ext cx="1952917" cy="4632960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648A26-076E-43F1-9629-9C1B71DB2E66}"/>
              </a:ext>
            </a:extLst>
          </p:cNvPr>
          <p:cNvSpPr/>
          <p:nvPr/>
        </p:nvSpPr>
        <p:spPr>
          <a:xfrm>
            <a:off x="4991360" y="1947022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역학과 에너지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6C43B5-6101-4FE1-99AE-4A654F31EAD1}"/>
              </a:ext>
            </a:extLst>
          </p:cNvPr>
          <p:cNvSpPr/>
          <p:nvPr/>
        </p:nvSpPr>
        <p:spPr>
          <a:xfrm>
            <a:off x="4991360" y="2532549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전자기와 양자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5DE1FB-BDA1-4360-9E5E-9E6051881410}"/>
              </a:ext>
            </a:extLst>
          </p:cNvPr>
          <p:cNvSpPr/>
          <p:nvPr/>
        </p:nvSpPr>
        <p:spPr>
          <a:xfrm>
            <a:off x="4991360" y="3098063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물질과 에너지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A910DA-F32E-4F58-B005-99FDC8D1ECE6}"/>
              </a:ext>
            </a:extLst>
          </p:cNvPr>
          <p:cNvSpPr/>
          <p:nvPr/>
        </p:nvSpPr>
        <p:spPr>
          <a:xfrm>
            <a:off x="4991359" y="3636204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화학반응의 세계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176A8B-5D65-46A5-A734-621044B45026}"/>
              </a:ext>
            </a:extLst>
          </p:cNvPr>
          <p:cNvSpPr/>
          <p:nvPr/>
        </p:nvSpPr>
        <p:spPr>
          <a:xfrm>
            <a:off x="2598337" y="4175046"/>
            <a:ext cx="1855508" cy="10471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생명과학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FFE89C-EE14-42D8-8D79-6C716E572313}"/>
              </a:ext>
            </a:extLst>
          </p:cNvPr>
          <p:cNvSpPr/>
          <p:nvPr/>
        </p:nvSpPr>
        <p:spPr>
          <a:xfrm>
            <a:off x="2598337" y="5353426"/>
            <a:ext cx="1855508" cy="981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지구과학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A48FC5-77A4-4838-B510-419AC7D6BD41}"/>
              </a:ext>
            </a:extLst>
          </p:cNvPr>
          <p:cNvSpPr/>
          <p:nvPr/>
        </p:nvSpPr>
        <p:spPr>
          <a:xfrm>
            <a:off x="4991360" y="4184492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세포의 물질대사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74950E-7931-4A4D-8A22-A191BC454A27}"/>
              </a:ext>
            </a:extLst>
          </p:cNvPr>
          <p:cNvSpPr/>
          <p:nvPr/>
        </p:nvSpPr>
        <p:spPr>
          <a:xfrm>
            <a:off x="4991360" y="4755555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생물의 유전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A58DF1-E63D-4180-A938-942FA0424E1C}"/>
              </a:ext>
            </a:extLst>
          </p:cNvPr>
          <p:cNvSpPr/>
          <p:nvPr/>
        </p:nvSpPr>
        <p:spPr>
          <a:xfrm>
            <a:off x="5009645" y="5307126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지구시스템과학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F5E147-0202-4865-B395-629EFA57676C}"/>
              </a:ext>
            </a:extLst>
          </p:cNvPr>
          <p:cNvSpPr/>
          <p:nvPr/>
        </p:nvSpPr>
        <p:spPr>
          <a:xfrm>
            <a:off x="4991360" y="5876575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행성우주과학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776A03-C54A-49D3-885F-640ED9E0A2EF}"/>
              </a:ext>
            </a:extLst>
          </p:cNvPr>
          <p:cNvSpPr/>
          <p:nvPr/>
        </p:nvSpPr>
        <p:spPr>
          <a:xfrm>
            <a:off x="7653280" y="1736224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고급 물리학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CDA617-EC62-4921-9C3F-27F35BD6C532}"/>
              </a:ext>
            </a:extLst>
          </p:cNvPr>
          <p:cNvSpPr/>
          <p:nvPr/>
        </p:nvSpPr>
        <p:spPr>
          <a:xfrm>
            <a:off x="7653280" y="2321751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고급 화학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E3878F-9DE8-4932-8827-19C686EC77A7}"/>
              </a:ext>
            </a:extLst>
          </p:cNvPr>
          <p:cNvSpPr/>
          <p:nvPr/>
        </p:nvSpPr>
        <p:spPr>
          <a:xfrm>
            <a:off x="7653280" y="2887265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고급 생명과학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0C4FE7A-D3AE-4A2C-85A0-A3F3599573F0}"/>
              </a:ext>
            </a:extLst>
          </p:cNvPr>
          <p:cNvSpPr/>
          <p:nvPr/>
        </p:nvSpPr>
        <p:spPr>
          <a:xfrm>
            <a:off x="7653279" y="3425406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고급 지구과학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4074479-EC9A-4CBD-9E26-223108E92B65}"/>
              </a:ext>
            </a:extLst>
          </p:cNvPr>
          <p:cNvSpPr/>
          <p:nvPr/>
        </p:nvSpPr>
        <p:spPr>
          <a:xfrm>
            <a:off x="7653280" y="3973694"/>
            <a:ext cx="19529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과학과제연구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A2679A-8F8F-41D4-84CA-D327FB3DAF98}"/>
              </a:ext>
            </a:extLst>
          </p:cNvPr>
          <p:cNvSpPr/>
          <p:nvPr/>
        </p:nvSpPr>
        <p:spPr>
          <a:xfrm>
            <a:off x="7653280" y="4544757"/>
            <a:ext cx="1952917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물리학 실험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80DA95-E2DE-484A-8AEC-1CE8FE907C8B}"/>
              </a:ext>
            </a:extLst>
          </p:cNvPr>
          <p:cNvSpPr/>
          <p:nvPr/>
        </p:nvSpPr>
        <p:spPr>
          <a:xfrm>
            <a:off x="7653278" y="5094714"/>
            <a:ext cx="1952917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화학 실험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AF9EA35-5A1B-473E-8072-34CAD1A56511}"/>
              </a:ext>
            </a:extLst>
          </p:cNvPr>
          <p:cNvSpPr/>
          <p:nvPr/>
        </p:nvSpPr>
        <p:spPr>
          <a:xfrm>
            <a:off x="7653280" y="5665777"/>
            <a:ext cx="1952917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생명과학 실험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2771900-7F75-4AD5-A176-690AFABB1461}"/>
              </a:ext>
            </a:extLst>
          </p:cNvPr>
          <p:cNvSpPr/>
          <p:nvPr/>
        </p:nvSpPr>
        <p:spPr>
          <a:xfrm>
            <a:off x="7653277" y="6214065"/>
            <a:ext cx="1952917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지구과학 실험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BDC5CC3-4FCE-404C-AB3A-45DD8292D83B}"/>
              </a:ext>
            </a:extLst>
          </p:cNvPr>
          <p:cNvSpPr/>
          <p:nvPr/>
        </p:nvSpPr>
        <p:spPr>
          <a:xfrm>
            <a:off x="4933229" y="1808481"/>
            <a:ext cx="2105750" cy="4632960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355E9B9-8F93-4D61-95C5-B92823325251}"/>
              </a:ext>
            </a:extLst>
          </p:cNvPr>
          <p:cNvSpPr/>
          <p:nvPr/>
        </p:nvSpPr>
        <p:spPr>
          <a:xfrm>
            <a:off x="7576860" y="1657214"/>
            <a:ext cx="2105750" cy="5099186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8EEC4EFB-69A9-4EFD-A7E6-9DF0A3AD88D9}"/>
              </a:ext>
            </a:extLst>
          </p:cNvPr>
          <p:cNvSpPr/>
          <p:nvPr/>
        </p:nvSpPr>
        <p:spPr>
          <a:xfrm>
            <a:off x="2118954" y="3973694"/>
            <a:ext cx="479383" cy="3747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52B1AC1E-B663-4A8E-965C-6AED1BA61D84}"/>
              </a:ext>
            </a:extLst>
          </p:cNvPr>
          <p:cNvSpPr/>
          <p:nvPr/>
        </p:nvSpPr>
        <p:spPr>
          <a:xfrm>
            <a:off x="4470537" y="3973694"/>
            <a:ext cx="479383" cy="37478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ED79F5B2-F55C-4FEE-94E4-FB0150993020}"/>
              </a:ext>
            </a:extLst>
          </p:cNvPr>
          <p:cNvSpPr/>
          <p:nvPr/>
        </p:nvSpPr>
        <p:spPr>
          <a:xfrm>
            <a:off x="7080418" y="3968963"/>
            <a:ext cx="479383" cy="37478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6C5593C-9321-4748-B922-2DA683C9F0CC}"/>
              </a:ext>
            </a:extLst>
          </p:cNvPr>
          <p:cNvSpPr/>
          <p:nvPr/>
        </p:nvSpPr>
        <p:spPr>
          <a:xfrm>
            <a:off x="2566882" y="1100768"/>
            <a:ext cx="227943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과학의 역사와 문화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D9AB531-E0A0-4D81-A9BA-11E675D33ECF}"/>
              </a:ext>
            </a:extLst>
          </p:cNvPr>
          <p:cNvSpPr/>
          <p:nvPr/>
        </p:nvSpPr>
        <p:spPr>
          <a:xfrm>
            <a:off x="4963546" y="1099638"/>
            <a:ext cx="253270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기후 변화와 환경 생태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870ADC-FCE9-4F23-8D8D-7E4A7C12F1B4}"/>
              </a:ext>
            </a:extLst>
          </p:cNvPr>
          <p:cNvSpPr/>
          <p:nvPr/>
        </p:nvSpPr>
        <p:spPr>
          <a:xfrm>
            <a:off x="7653277" y="1091700"/>
            <a:ext cx="1952917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융합과학탐구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80A6B0D-5C20-4916-B79B-74D3F5EDD671}"/>
              </a:ext>
            </a:extLst>
          </p:cNvPr>
          <p:cNvSpPr/>
          <p:nvPr/>
        </p:nvSpPr>
        <p:spPr>
          <a:xfrm>
            <a:off x="2524586" y="1048340"/>
            <a:ext cx="7158024" cy="544573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63933C20-D376-458B-AD13-105F64636F72}"/>
              </a:ext>
            </a:extLst>
          </p:cNvPr>
          <p:cNvSpPr/>
          <p:nvPr/>
        </p:nvSpPr>
        <p:spPr>
          <a:xfrm rot="19190000">
            <a:off x="1037277" y="1788712"/>
            <a:ext cx="1471315" cy="374786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773C82E7-F0D8-4F69-A44C-9EAC1B40AB14}"/>
              </a:ext>
            </a:extLst>
          </p:cNvPr>
          <p:cNvSpPr/>
          <p:nvPr/>
        </p:nvSpPr>
        <p:spPr>
          <a:xfrm rot="19190000">
            <a:off x="4317308" y="1662090"/>
            <a:ext cx="479383" cy="3747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907200FE-86D9-4FF8-855E-CEECA606E776}"/>
              </a:ext>
            </a:extLst>
          </p:cNvPr>
          <p:cNvSpPr/>
          <p:nvPr/>
        </p:nvSpPr>
        <p:spPr>
          <a:xfrm>
            <a:off x="9805135" y="1131248"/>
            <a:ext cx="479383" cy="374786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5A6AB505-7C04-4A06-B5F8-FE191CAACF20}"/>
              </a:ext>
            </a:extLst>
          </p:cNvPr>
          <p:cNvSpPr/>
          <p:nvPr/>
        </p:nvSpPr>
        <p:spPr>
          <a:xfrm rot="2522134">
            <a:off x="9788642" y="1621087"/>
            <a:ext cx="479383" cy="3747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A66380AF-3E21-47A0-81DD-30BDB8F13884}"/>
              </a:ext>
            </a:extLst>
          </p:cNvPr>
          <p:cNvSpPr/>
          <p:nvPr/>
        </p:nvSpPr>
        <p:spPr>
          <a:xfrm>
            <a:off x="9778894" y="3968963"/>
            <a:ext cx="479383" cy="37478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332FDF-CA03-41DC-BED5-D9471A780172}"/>
              </a:ext>
            </a:extLst>
          </p:cNvPr>
          <p:cNvSpPr txBox="1"/>
          <p:nvPr/>
        </p:nvSpPr>
        <p:spPr>
          <a:xfrm>
            <a:off x="10284518" y="1110514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인문</a:t>
            </a:r>
            <a:r>
              <a:rPr lang="en-US" altLang="ko-KR" b="1" dirty="0"/>
              <a:t>/</a:t>
            </a:r>
            <a:r>
              <a:rPr lang="ko-KR" altLang="en-US" b="1" dirty="0"/>
              <a:t>예체능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DC895E-E583-428E-B45F-C594D20DC506}"/>
              </a:ext>
            </a:extLst>
          </p:cNvPr>
          <p:cNvSpPr txBox="1"/>
          <p:nvPr/>
        </p:nvSpPr>
        <p:spPr>
          <a:xfrm>
            <a:off x="10281098" y="1808522"/>
            <a:ext cx="966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융복합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B7E024-03C7-449F-AF35-EBDCA930197E}"/>
              </a:ext>
            </a:extLst>
          </p:cNvPr>
          <p:cNvSpPr txBox="1"/>
          <p:nvPr/>
        </p:nvSpPr>
        <p:spPr>
          <a:xfrm>
            <a:off x="10073046" y="3990380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이공계열</a:t>
            </a:r>
          </a:p>
        </p:txBody>
      </p:sp>
    </p:spTree>
    <p:extLst>
      <p:ext uri="{BB962C8B-B14F-4D97-AF65-F5344CB8AC3E}">
        <p14:creationId xmlns:p14="http://schemas.microsoft.com/office/powerpoint/2010/main" val="213584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/>
      <p:bldP spid="50" grpId="0"/>
      <p:bldP spid="5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00CA0ED-E687-4C95-9A74-5277BC63AD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숙명여대 </a:t>
            </a:r>
            <a:r>
              <a:rPr lang="en-US" altLang="ko-KR" dirty="0"/>
              <a:t>41</a:t>
            </a:r>
            <a:r>
              <a:rPr lang="ko-KR" altLang="en-US" dirty="0"/>
              <a:t>개 학과</a:t>
            </a:r>
            <a:r>
              <a:rPr lang="en-US" altLang="ko-KR" dirty="0"/>
              <a:t>(</a:t>
            </a:r>
            <a:r>
              <a:rPr lang="ko-KR" altLang="en-US" dirty="0"/>
              <a:t>전공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9</a:t>
            </a:r>
            <a:r>
              <a:rPr lang="ko-KR" altLang="en-US" dirty="0"/>
              <a:t>개 범주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34C7D2-F815-4F71-A963-0E56458F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10" y="1111417"/>
            <a:ext cx="7862796" cy="463516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B72DAA6-C41F-4841-BFFA-15DDA02F2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216" y="2761129"/>
            <a:ext cx="4580784" cy="1472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4C3365-87F7-42B9-A884-F20319A2AEF6}"/>
              </a:ext>
            </a:extLst>
          </p:cNvPr>
          <p:cNvSpPr txBox="1"/>
          <p:nvPr/>
        </p:nvSpPr>
        <p:spPr>
          <a:xfrm>
            <a:off x="3532094" y="6167718"/>
            <a:ext cx="812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출처</a:t>
            </a:r>
            <a:r>
              <a:rPr lang="en-US" altLang="ko-KR" dirty="0"/>
              <a:t>: [</a:t>
            </a:r>
            <a:r>
              <a:rPr lang="ko-KR" altLang="en-US" dirty="0"/>
              <a:t>숙명여대</a:t>
            </a:r>
            <a:r>
              <a:rPr lang="en-US" altLang="ko-KR" dirty="0"/>
              <a:t>] </a:t>
            </a:r>
            <a:r>
              <a:rPr lang="ko-KR" altLang="en-US" dirty="0" err="1"/>
              <a:t>진로진학을</a:t>
            </a:r>
            <a:r>
              <a:rPr lang="ko-KR" altLang="en-US" dirty="0"/>
              <a:t> 위한 학과탐색 가이드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59736D-8447-43D4-A728-0CAF8F2D5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910" y="5329241"/>
            <a:ext cx="6226080" cy="4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64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192FEA-F8D8-4393-B4A4-CD6DE53727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(</a:t>
            </a:r>
            <a:r>
              <a:rPr lang="ko-KR" altLang="en-US" dirty="0" err="1"/>
              <a:t>언어∙문학</a:t>
            </a:r>
            <a:r>
              <a:rPr lang="en-US" altLang="ko-KR" dirty="0"/>
              <a:t>/</a:t>
            </a:r>
            <a:r>
              <a:rPr lang="ko-KR" altLang="en-US" dirty="0"/>
              <a:t>인문학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90E4F55-74AA-465D-BEFF-E5DF35E4B73D}"/>
              </a:ext>
            </a:extLst>
          </p:cNvPr>
          <p:cNvGrpSpPr/>
          <p:nvPr/>
        </p:nvGrpSpPr>
        <p:grpSpPr>
          <a:xfrm>
            <a:off x="625777" y="1019588"/>
            <a:ext cx="7252446" cy="5448273"/>
            <a:chOff x="1546465" y="1175853"/>
            <a:chExt cx="9091448" cy="729297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F5AA6F2-6A87-4F79-8630-D725C900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4086" y="1175853"/>
              <a:ext cx="9083827" cy="3856054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80256B1-50D3-41D5-94AB-AFA7835AD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6465" y="5031907"/>
              <a:ext cx="9091448" cy="3436919"/>
            </a:xfrm>
            <a:prstGeom prst="rect">
              <a:avLst/>
            </a:prstGeom>
          </p:spPr>
        </p:pic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F6E6BB-0A9F-45EA-9E27-E338B334020A}"/>
              </a:ext>
            </a:extLst>
          </p:cNvPr>
          <p:cNvSpPr/>
          <p:nvPr/>
        </p:nvSpPr>
        <p:spPr>
          <a:xfrm>
            <a:off x="8588188" y="2187388"/>
            <a:ext cx="2971956" cy="38996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한국어문학부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역사문화학과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프랑스언어∙문화학과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중어중문학부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독일언어∙문화학과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일본학과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영어영문학전공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테슬</a:t>
            </a:r>
            <a:r>
              <a:rPr lang="en-US" altLang="ko-KR" sz="2000" b="1" dirty="0">
                <a:solidFill>
                  <a:schemeClr val="tx1"/>
                </a:solidFill>
              </a:rPr>
              <a:t>(TESL)</a:t>
            </a:r>
            <a:r>
              <a:rPr lang="ko-KR" altLang="en-US" sz="2000" b="1" dirty="0">
                <a:solidFill>
                  <a:schemeClr val="tx1"/>
                </a:solidFill>
              </a:rPr>
              <a:t>전공</a:t>
            </a:r>
          </a:p>
        </p:txBody>
      </p:sp>
    </p:spTree>
    <p:extLst>
      <p:ext uri="{BB962C8B-B14F-4D97-AF65-F5344CB8AC3E}">
        <p14:creationId xmlns:p14="http://schemas.microsoft.com/office/powerpoint/2010/main" val="913891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B45651-5F0D-48FB-848B-60A2147FF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(</a:t>
            </a:r>
            <a:r>
              <a:rPr lang="ko-KR" altLang="en-US" dirty="0"/>
              <a:t>사회과학</a:t>
            </a:r>
            <a:r>
              <a:rPr lang="en-US" altLang="ko-KR" dirty="0"/>
              <a:t>/</a:t>
            </a:r>
            <a:r>
              <a:rPr lang="ko-KR" altLang="en-US" dirty="0"/>
              <a:t>교육</a:t>
            </a:r>
            <a:r>
              <a:rPr lang="en-US" altLang="ko-KR" dirty="0"/>
              <a:t>/</a:t>
            </a:r>
            <a:r>
              <a:rPr lang="ko-KR" altLang="en-US" dirty="0"/>
              <a:t>법학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A322B6-27C9-44C3-B30E-58D83BB68125}"/>
              </a:ext>
            </a:extLst>
          </p:cNvPr>
          <p:cNvSpPr/>
          <p:nvPr/>
        </p:nvSpPr>
        <p:spPr>
          <a:xfrm>
            <a:off x="8435788" y="1595717"/>
            <a:ext cx="2971956" cy="4840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문헌정보학과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교육학부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가족자원경영학과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아동복지학부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정치외교학과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행정학과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사회심리학과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법학부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글로벌협력전공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미디어학부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5E21C0-B6D2-474C-A2DA-82EBEE98E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19" y="972004"/>
            <a:ext cx="6994145" cy="558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92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B45651-5F0D-48FB-848B-60A2147FF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(</a:t>
            </a:r>
            <a:r>
              <a:rPr lang="ko-KR" altLang="en-US" dirty="0" err="1"/>
              <a:t>경영∙경제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A322B6-27C9-44C3-B30E-58D83BB68125}"/>
              </a:ext>
            </a:extLst>
          </p:cNvPr>
          <p:cNvSpPr/>
          <p:nvPr/>
        </p:nvSpPr>
        <p:spPr>
          <a:xfrm>
            <a:off x="8157882" y="2250142"/>
            <a:ext cx="3550024" cy="3523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문화관광학전공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르꼬르동블루외식경영전공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홍보광고학과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소비자경제학과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경제학부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경영학부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앙트러프러너십전공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935E5B-40BA-4551-9ED5-913FD9C38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06" y="1080846"/>
            <a:ext cx="6859520" cy="547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15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B45651-5F0D-48FB-848B-60A2147FF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(</a:t>
            </a:r>
            <a:r>
              <a:rPr lang="ko-KR" altLang="en-US" dirty="0" err="1"/>
              <a:t>화학∙생명과학</a:t>
            </a:r>
            <a:r>
              <a:rPr lang="ko-KR" altLang="en-US" dirty="0"/>
              <a:t> ∙환경</a:t>
            </a:r>
            <a:r>
              <a:rPr lang="en-US" altLang="ko-KR" dirty="0"/>
              <a:t>/</a:t>
            </a:r>
            <a:r>
              <a:rPr lang="ko-KR" altLang="en-US" dirty="0"/>
              <a:t>생활과학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A322B6-27C9-44C3-B30E-58D83BB68125}"/>
              </a:ext>
            </a:extLst>
          </p:cNvPr>
          <p:cNvSpPr/>
          <p:nvPr/>
        </p:nvSpPr>
        <p:spPr>
          <a:xfrm>
            <a:off x="8227100" y="4805082"/>
            <a:ext cx="3550024" cy="14612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화학과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생명시스템학부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식품영양학과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ED7954-8D9C-42E3-B186-032D315B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21" y="1009841"/>
            <a:ext cx="7155344" cy="569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43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B45651-5F0D-48FB-848B-60A2147FF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(</a:t>
            </a:r>
            <a:r>
              <a:rPr lang="ko-KR" altLang="en-US" dirty="0"/>
              <a:t>수학</a:t>
            </a:r>
            <a:r>
              <a:rPr lang="en-US" altLang="ko-KR" dirty="0"/>
              <a:t>/</a:t>
            </a:r>
            <a:r>
              <a:rPr lang="ko-KR" altLang="en-US" dirty="0"/>
              <a:t>컴퓨터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A322B6-27C9-44C3-B30E-58D83BB68125}"/>
              </a:ext>
            </a:extLst>
          </p:cNvPr>
          <p:cNvSpPr/>
          <p:nvPr/>
        </p:nvSpPr>
        <p:spPr>
          <a:xfrm>
            <a:off x="8164347" y="4190825"/>
            <a:ext cx="3550024" cy="23666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수학과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통계학과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인공지능공학부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컴퓨터과학전공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데이터사이언스전공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F09B4D-6B7B-4E4E-937E-E73A6419C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33" y="1085564"/>
            <a:ext cx="7181735" cy="562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91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B45651-5F0D-48FB-848B-60A2147FF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[Not Classified Elsewhere(N.C.E)_</a:t>
            </a:r>
            <a:r>
              <a:rPr lang="ko-KR" altLang="en-US" dirty="0"/>
              <a:t>공학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A322B6-27C9-44C3-B30E-58D83BB68125}"/>
              </a:ext>
            </a:extLst>
          </p:cNvPr>
          <p:cNvSpPr/>
          <p:nvPr/>
        </p:nvSpPr>
        <p:spPr>
          <a:xfrm>
            <a:off x="7888940" y="5983000"/>
            <a:ext cx="1754583" cy="7304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>
                <a:solidFill>
                  <a:schemeClr val="tx1"/>
                </a:solidFill>
              </a:rPr>
              <a:t>첨단공학부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0DCAEA-97C0-49DF-998C-BE3274415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77" y="1088395"/>
            <a:ext cx="7224054" cy="562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13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B45651-5F0D-48FB-848B-60A2147FF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(</a:t>
            </a:r>
            <a:r>
              <a:rPr lang="ko-KR" altLang="en-US" dirty="0"/>
              <a:t>생활과학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A322B6-27C9-44C3-B30E-58D83BB68125}"/>
              </a:ext>
            </a:extLst>
          </p:cNvPr>
          <p:cNvSpPr/>
          <p:nvPr/>
        </p:nvSpPr>
        <p:spPr>
          <a:xfrm>
            <a:off x="8426822" y="5913554"/>
            <a:ext cx="1700795" cy="7483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>
                <a:solidFill>
                  <a:schemeClr val="tx1"/>
                </a:solidFill>
              </a:rPr>
              <a:t>의류학과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4942CD-068E-4070-B8BC-4D9D5E58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71" y="955923"/>
            <a:ext cx="7211763" cy="570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31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B45651-5F0D-48FB-848B-60A2147FF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(</a:t>
            </a:r>
            <a:r>
              <a:rPr lang="ko-KR" altLang="en-US" dirty="0" err="1"/>
              <a:t>약학∙한약학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A322B6-27C9-44C3-B30E-58D83BB68125}"/>
              </a:ext>
            </a:extLst>
          </p:cNvPr>
          <p:cNvSpPr/>
          <p:nvPr/>
        </p:nvSpPr>
        <p:spPr>
          <a:xfrm>
            <a:off x="8426823" y="5913554"/>
            <a:ext cx="1452284" cy="7483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err="1">
                <a:solidFill>
                  <a:schemeClr val="tx1"/>
                </a:solidFill>
              </a:rPr>
              <a:t>약학부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70D69A-0227-47F5-8E1F-D18432A5B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11" y="1110634"/>
            <a:ext cx="7215089" cy="56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78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B45651-5F0D-48FB-848B-60A2147FF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115826"/>
            <a:ext cx="8562300" cy="830997"/>
          </a:xfrm>
        </p:spPr>
        <p:txBody>
          <a:bodyPr/>
          <a:lstStyle/>
          <a:p>
            <a:r>
              <a:rPr lang="ko-KR" altLang="en-US" dirty="0"/>
              <a:t>숙명여대</a:t>
            </a:r>
            <a:r>
              <a:rPr lang="en-US" altLang="ko-KR" dirty="0"/>
              <a:t>[Not Classified Elsewhere(N.C.E)_</a:t>
            </a:r>
            <a:r>
              <a:rPr lang="ko-KR" altLang="en-US" dirty="0"/>
              <a:t>인문사회</a:t>
            </a:r>
            <a:r>
              <a:rPr lang="en-US" altLang="ko-KR" dirty="0"/>
              <a:t>/</a:t>
            </a:r>
            <a:r>
              <a:rPr lang="ko-KR" altLang="en-US" dirty="0"/>
              <a:t>자연과학</a:t>
            </a:r>
            <a:r>
              <a:rPr lang="en-US" altLang="ko-KR" dirty="0"/>
              <a:t>/</a:t>
            </a:r>
            <a:r>
              <a:rPr lang="ko-KR" altLang="en-US" dirty="0"/>
              <a:t>공학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A322B6-27C9-44C3-B30E-58D83BB68125}"/>
              </a:ext>
            </a:extLst>
          </p:cNvPr>
          <p:cNvSpPr/>
          <p:nvPr/>
        </p:nvSpPr>
        <p:spPr>
          <a:xfrm>
            <a:off x="8722657" y="5983000"/>
            <a:ext cx="2169460" cy="7304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>
                <a:solidFill>
                  <a:schemeClr val="tx1"/>
                </a:solidFill>
              </a:rPr>
              <a:t>자유전공학부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973780-94CC-4FD0-B309-ADE61C21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19" y="1042675"/>
            <a:ext cx="7219305" cy="56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977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5320D1-915E-405B-ABF0-4AE039ED8B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모집단위 관련 교과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EEEF63-326F-42D6-BDF2-B82E3CE0807E}"/>
              </a:ext>
            </a:extLst>
          </p:cNvPr>
          <p:cNvSpPr/>
          <p:nvPr/>
        </p:nvSpPr>
        <p:spPr>
          <a:xfrm>
            <a:off x="575745" y="1181888"/>
            <a:ext cx="11309454" cy="54519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설정방향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1"/>
                </a:solidFill>
              </a:rPr>
              <a:t>지리</a:t>
            </a:r>
            <a:r>
              <a:rPr lang="en-US" altLang="ko-KR" sz="1700" b="1" dirty="0">
                <a:solidFill>
                  <a:schemeClr val="accent1"/>
                </a:solidFill>
              </a:rPr>
              <a:t>: </a:t>
            </a:r>
            <a:r>
              <a:rPr lang="ko-KR" altLang="en-US" sz="1700" b="1" dirty="0">
                <a:solidFill>
                  <a:schemeClr val="accent1"/>
                </a:solidFill>
              </a:rPr>
              <a:t>세계시민과 지리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한국지리 탐구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도시의 미래 탐구 등</a:t>
            </a:r>
            <a:endParaRPr lang="en-US" altLang="ko-KR" sz="1700" b="1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1"/>
                </a:solidFill>
              </a:rPr>
              <a:t>역사</a:t>
            </a:r>
            <a:r>
              <a:rPr lang="en-US" altLang="ko-KR" sz="1700" b="1" dirty="0">
                <a:solidFill>
                  <a:schemeClr val="accent1"/>
                </a:solidFill>
              </a:rPr>
              <a:t>: </a:t>
            </a:r>
            <a:r>
              <a:rPr lang="ko-KR" altLang="en-US" sz="1700" b="1" dirty="0">
                <a:solidFill>
                  <a:schemeClr val="accent1"/>
                </a:solidFill>
              </a:rPr>
              <a:t>세계사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동아시아 역사 기행 등</a:t>
            </a:r>
            <a:endParaRPr lang="en-US" altLang="ko-KR" sz="1700" b="1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1"/>
                </a:solidFill>
              </a:rPr>
              <a:t>일반사회</a:t>
            </a:r>
            <a:r>
              <a:rPr lang="en-US" altLang="ko-KR" sz="1700" b="1" dirty="0">
                <a:solidFill>
                  <a:schemeClr val="accent1"/>
                </a:solidFill>
              </a:rPr>
              <a:t>: </a:t>
            </a:r>
            <a:r>
              <a:rPr lang="ko-KR" altLang="en-US" sz="1700" b="1" dirty="0">
                <a:solidFill>
                  <a:schemeClr val="accent1"/>
                </a:solidFill>
              </a:rPr>
              <a:t>사회와 문화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정치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법과 사회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경제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국제 관계의 이해</a:t>
            </a:r>
            <a:endParaRPr lang="en-US" altLang="ko-KR" sz="1700" b="1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1"/>
                </a:solidFill>
              </a:rPr>
              <a:t>윤리</a:t>
            </a:r>
            <a:r>
              <a:rPr lang="en-US" altLang="ko-KR" sz="1700" b="1" dirty="0">
                <a:solidFill>
                  <a:schemeClr val="accent1"/>
                </a:solidFill>
              </a:rPr>
              <a:t>: </a:t>
            </a:r>
            <a:r>
              <a:rPr lang="ko-KR" altLang="en-US" sz="1700" b="1" dirty="0">
                <a:solidFill>
                  <a:schemeClr val="accent1"/>
                </a:solidFill>
              </a:rPr>
              <a:t>현대사회와 윤리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윤리와 사상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인문학과 윤리 등</a:t>
            </a:r>
            <a:endParaRPr lang="en-US" altLang="ko-KR" sz="1700" b="1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1"/>
                </a:solidFill>
              </a:rPr>
              <a:t>사회</a:t>
            </a:r>
            <a:r>
              <a:rPr lang="en-US" altLang="ko-KR" sz="1700" b="1" dirty="0">
                <a:solidFill>
                  <a:schemeClr val="accent1"/>
                </a:solidFill>
              </a:rPr>
              <a:t>: </a:t>
            </a:r>
            <a:r>
              <a:rPr lang="ko-KR" altLang="en-US" sz="1700" b="1" dirty="0">
                <a:solidFill>
                  <a:schemeClr val="accent1"/>
                </a:solidFill>
              </a:rPr>
              <a:t>지리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역사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일반사회</a:t>
            </a:r>
            <a:r>
              <a:rPr lang="en-US" altLang="ko-KR" sz="1700" b="1" dirty="0">
                <a:solidFill>
                  <a:schemeClr val="accent1"/>
                </a:solidFill>
              </a:rPr>
              <a:t>, </a:t>
            </a:r>
            <a:r>
              <a:rPr lang="ko-KR" altLang="en-US" sz="1700" b="1" dirty="0">
                <a:solidFill>
                  <a:schemeClr val="accent1"/>
                </a:solidFill>
              </a:rPr>
              <a:t>윤리 전 과목</a:t>
            </a:r>
            <a:endParaRPr lang="en-US" altLang="ko-KR" sz="1700" b="1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2"/>
                </a:solidFill>
              </a:rPr>
              <a:t>물리학</a:t>
            </a:r>
            <a:r>
              <a:rPr lang="en-US" altLang="ko-KR" sz="1700" b="1" dirty="0">
                <a:solidFill>
                  <a:schemeClr val="accent2"/>
                </a:solidFill>
              </a:rPr>
              <a:t>: </a:t>
            </a:r>
            <a:r>
              <a:rPr lang="ko-KR" altLang="en-US" sz="1700" b="1" dirty="0">
                <a:solidFill>
                  <a:schemeClr val="accent2"/>
                </a:solidFill>
              </a:rPr>
              <a:t>물리학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역학과 에너지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전자기와 양자 등</a:t>
            </a:r>
            <a:endParaRPr lang="en-US" altLang="ko-KR" sz="17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2"/>
                </a:solidFill>
              </a:rPr>
              <a:t>화학</a:t>
            </a:r>
            <a:r>
              <a:rPr lang="en-US" altLang="ko-KR" sz="1700" b="1" dirty="0">
                <a:solidFill>
                  <a:schemeClr val="accent2"/>
                </a:solidFill>
              </a:rPr>
              <a:t>: </a:t>
            </a:r>
            <a:r>
              <a:rPr lang="ko-KR" altLang="en-US" sz="1700" b="1" dirty="0">
                <a:solidFill>
                  <a:schemeClr val="accent2"/>
                </a:solidFill>
              </a:rPr>
              <a:t>화학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물질과 에너지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화학 반응의 세계 등</a:t>
            </a:r>
            <a:endParaRPr lang="en-US" altLang="ko-KR" sz="17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2"/>
                </a:solidFill>
              </a:rPr>
              <a:t>생명과학</a:t>
            </a:r>
            <a:r>
              <a:rPr lang="en-US" altLang="ko-KR" sz="1700" b="1" dirty="0">
                <a:solidFill>
                  <a:schemeClr val="accent2"/>
                </a:solidFill>
              </a:rPr>
              <a:t>: </a:t>
            </a:r>
            <a:r>
              <a:rPr lang="ko-KR" altLang="en-US" sz="1700" b="1" dirty="0">
                <a:solidFill>
                  <a:schemeClr val="accent2"/>
                </a:solidFill>
              </a:rPr>
              <a:t>생명과학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세포와 물질대사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생물의 유전 등</a:t>
            </a:r>
            <a:endParaRPr lang="en-US" altLang="ko-KR" sz="17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2"/>
                </a:solidFill>
              </a:rPr>
              <a:t>지구과학</a:t>
            </a:r>
            <a:r>
              <a:rPr lang="en-US" altLang="ko-KR" sz="1700" b="1" dirty="0">
                <a:solidFill>
                  <a:schemeClr val="accent2"/>
                </a:solidFill>
              </a:rPr>
              <a:t>: </a:t>
            </a:r>
            <a:r>
              <a:rPr lang="ko-KR" altLang="en-US" sz="1700" b="1" dirty="0">
                <a:solidFill>
                  <a:schemeClr val="accent2"/>
                </a:solidFill>
              </a:rPr>
              <a:t>지구과학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지구시스템과학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행성우주과학 등</a:t>
            </a:r>
            <a:endParaRPr lang="en-US" altLang="ko-KR" sz="17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b="1" dirty="0">
                <a:solidFill>
                  <a:schemeClr val="accent2"/>
                </a:solidFill>
              </a:rPr>
              <a:t>과학</a:t>
            </a:r>
            <a:r>
              <a:rPr lang="en-US" altLang="ko-KR" sz="1700" b="1" dirty="0">
                <a:solidFill>
                  <a:schemeClr val="accent2"/>
                </a:solidFill>
              </a:rPr>
              <a:t>: </a:t>
            </a:r>
            <a:r>
              <a:rPr lang="ko-KR" altLang="en-US" sz="1700" b="1" dirty="0">
                <a:solidFill>
                  <a:schemeClr val="accent2"/>
                </a:solidFill>
              </a:rPr>
              <a:t>물리학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화학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생명과학</a:t>
            </a:r>
            <a:r>
              <a:rPr lang="en-US" altLang="ko-KR" sz="1700" b="1" dirty="0">
                <a:solidFill>
                  <a:schemeClr val="accent2"/>
                </a:solidFill>
              </a:rPr>
              <a:t>, </a:t>
            </a:r>
            <a:r>
              <a:rPr lang="ko-KR" altLang="en-US" sz="1700" b="1" dirty="0">
                <a:solidFill>
                  <a:schemeClr val="accent2"/>
                </a:solidFill>
              </a:rPr>
              <a:t>지구과학 전 과목</a:t>
            </a:r>
            <a:endParaRPr lang="en-US" altLang="ko-KR" sz="17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평가활용</a:t>
            </a:r>
            <a:r>
              <a:rPr lang="en-US" altLang="ko-KR" sz="2000" b="1" dirty="0">
                <a:solidFill>
                  <a:schemeClr val="tx1"/>
                </a:solidFill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</a:rPr>
              <a:t>진로역량 등의 평가요소에 반영</a:t>
            </a:r>
            <a:r>
              <a:rPr lang="en-US" altLang="ko-KR" sz="2000" b="1" dirty="0">
                <a:solidFill>
                  <a:schemeClr val="tx1"/>
                </a:solidFill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</a:rPr>
              <a:t>일반 및 진로 선택 과목 위주로 평가 활용</a:t>
            </a:r>
            <a:r>
              <a:rPr lang="en-US" altLang="ko-KR" sz="2000" b="1" dirty="0">
                <a:solidFill>
                  <a:schemeClr val="tx1"/>
                </a:solidFill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</a:rPr>
              <a:t>일반 선택 과목을 먼저 이수할 것을 권장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8821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BD8813-A659-4337-833C-4881D4DED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전남대</a:t>
            </a:r>
            <a:r>
              <a:rPr lang="en-US" altLang="ko-KR" dirty="0"/>
              <a:t>(</a:t>
            </a:r>
            <a:r>
              <a:rPr lang="ko-KR" altLang="en-US" dirty="0"/>
              <a:t>광주</a:t>
            </a:r>
            <a:r>
              <a:rPr lang="en-US" altLang="ko-KR" dirty="0"/>
              <a:t>): 2028 </a:t>
            </a:r>
            <a:r>
              <a:rPr lang="ko-KR" altLang="en-US" dirty="0"/>
              <a:t>학생부종합전형 모집단위 관련 교과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8741F-90FA-403F-AE0B-887CB5035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6828"/>
              </p:ext>
            </p:extLst>
          </p:nvPr>
        </p:nvGraphicFramePr>
        <p:xfrm>
          <a:off x="389487" y="1278733"/>
          <a:ext cx="11182288" cy="512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184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3102960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0251914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514926544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간호학과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경영학부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고분자융합소재공학부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경제학부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산업공학과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건축학부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전기공학과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토목공학과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생물공학과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86745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환경에너지공학과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응용식물학과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942218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에너지자원공학과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원예생명공학과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304870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기계공학부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응용생물학과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87822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신소재공학부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산림자원학과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38200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전자컴퓨터공학부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임산공학과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381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7441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BD8813-A659-4337-833C-4881D4DED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전남대</a:t>
            </a:r>
            <a:r>
              <a:rPr lang="en-US" altLang="ko-KR" dirty="0"/>
              <a:t>(</a:t>
            </a:r>
            <a:r>
              <a:rPr lang="ko-KR" altLang="en-US" dirty="0"/>
              <a:t>광주</a:t>
            </a:r>
            <a:r>
              <a:rPr lang="en-US" altLang="ko-KR" dirty="0"/>
              <a:t>): 2028 </a:t>
            </a:r>
            <a:r>
              <a:rPr lang="ko-KR" altLang="en-US" dirty="0"/>
              <a:t>학생부종합전형 모집단위 관련 교과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8741F-90FA-403F-AE0B-887CB5035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534974"/>
              </p:ext>
            </p:extLst>
          </p:nvPr>
        </p:nvGraphicFramePr>
        <p:xfrm>
          <a:off x="156405" y="1404239"/>
          <a:ext cx="11735686" cy="3727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5832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2813368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  <a:gridCol w="3235643">
                  <a:extLst>
                    <a:ext uri="{9D8B030D-6E8A-4147-A177-3AD203B41FA5}">
                      <a16:colId xmlns:a16="http://schemas.microsoft.com/office/drawing/2014/main" val="102519148"/>
                    </a:ext>
                  </a:extLst>
                </a:gridCol>
                <a:gridCol w="2610843">
                  <a:extLst>
                    <a:ext uri="{9D8B030D-6E8A-4147-A177-3AD203B41FA5}">
                      <a16:colId xmlns:a16="http://schemas.microsoft.com/office/drawing/2014/main" val="1514926544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조경학과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chemeClr val="accent1"/>
                          </a:solidFill>
                        </a:rPr>
                        <a:t>지구과학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농업경제학과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농생명화학과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융합바이오시스템기계공학과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식품공학과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분자생명공학과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동물자원학부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교육학과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86745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지역바이오시스템공학과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유아교육과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942218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바이오에너지공학과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3048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6B6B195-B8E3-4F7E-87B8-218A8F3EA964}"/>
              </a:ext>
            </a:extLst>
          </p:cNvPr>
          <p:cNvSpPr txBox="1"/>
          <p:nvPr/>
        </p:nvSpPr>
        <p:spPr>
          <a:xfrm>
            <a:off x="475130" y="5342964"/>
            <a:ext cx="640976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※ </a:t>
            </a:r>
            <a:r>
              <a:rPr lang="ko-KR" altLang="en-US" b="1" dirty="0"/>
              <a:t>조경학과 </a:t>
            </a:r>
            <a:r>
              <a:rPr lang="ko-KR" altLang="en-US" b="1" dirty="0">
                <a:solidFill>
                  <a:schemeClr val="accent1"/>
                </a:solidFill>
              </a:rPr>
              <a:t>지구과학</a:t>
            </a:r>
            <a:r>
              <a:rPr lang="ko-KR" altLang="en-US" b="1" dirty="0"/>
              <a:t>에서 행성우주과학 이수는 불필요</a:t>
            </a:r>
          </a:p>
        </p:txBody>
      </p:sp>
    </p:spTree>
    <p:extLst>
      <p:ext uri="{BB962C8B-B14F-4D97-AF65-F5344CB8AC3E}">
        <p14:creationId xmlns:p14="http://schemas.microsoft.com/office/powerpoint/2010/main" val="19830542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BD8813-A659-4337-833C-4881D4DED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전남대</a:t>
            </a:r>
            <a:r>
              <a:rPr lang="en-US" altLang="ko-KR" dirty="0"/>
              <a:t>(</a:t>
            </a:r>
            <a:r>
              <a:rPr lang="ko-KR" altLang="en-US" dirty="0"/>
              <a:t>광주</a:t>
            </a:r>
            <a:r>
              <a:rPr lang="en-US" altLang="ko-KR" dirty="0"/>
              <a:t>): 2028 </a:t>
            </a:r>
            <a:r>
              <a:rPr lang="ko-KR" altLang="en-US" dirty="0"/>
              <a:t>학생부종합전형 모집단위 관련 교과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8741F-90FA-403F-AE0B-887CB5035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438425"/>
              </p:ext>
            </p:extLst>
          </p:nvPr>
        </p:nvGraphicFramePr>
        <p:xfrm>
          <a:off x="389487" y="1278733"/>
          <a:ext cx="11182288" cy="512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184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3102960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0251914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514926544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지리교육과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정치외교학과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역사교육과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역사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윤리교육과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윤리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심리학과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문헌정보학과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미디어커뮤니케이션학과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86745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942218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생물교육과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문화인류고고학과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역사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304870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지구과학교육과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지구과학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행정학과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87822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가정교육과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기술가정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38200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특수교육학부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윤리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381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7152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BD8813-A659-4337-833C-4881D4DED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전남대</a:t>
            </a:r>
            <a:r>
              <a:rPr lang="en-US" altLang="ko-KR" dirty="0"/>
              <a:t>(</a:t>
            </a:r>
            <a:r>
              <a:rPr lang="ko-KR" altLang="en-US" dirty="0"/>
              <a:t>광주</a:t>
            </a:r>
            <a:r>
              <a:rPr lang="en-US" altLang="ko-KR" dirty="0"/>
              <a:t>): 2028 </a:t>
            </a:r>
            <a:r>
              <a:rPr lang="ko-KR" altLang="en-US" dirty="0"/>
              <a:t>학생부종합전형 모집단위 관련 교과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8741F-90FA-403F-AE0B-887CB5035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87039"/>
              </p:ext>
            </p:extLst>
          </p:nvPr>
        </p:nvGraphicFramePr>
        <p:xfrm>
          <a:off x="504856" y="1726968"/>
          <a:ext cx="11182288" cy="4193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184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3102960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0251914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514926544"/>
                    </a:ext>
                  </a:extLst>
                </a:gridCol>
              </a:tblGrid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생활복지학과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국어국문학과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식품영양과학부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영어영문학과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의류학과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기술가정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독일언어문학과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독일어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수의예과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불어불문학과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프랑스어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약학부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중어중문학과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중국어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한문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86745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일어일문학과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일본어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942218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역사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304870"/>
                  </a:ext>
                </a:extLst>
              </a:tr>
              <a:tr h="465967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철학과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윤리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978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6604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BD8813-A659-4337-833C-4881D4DED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전남대</a:t>
            </a:r>
            <a:r>
              <a:rPr lang="en-US" altLang="ko-KR" dirty="0"/>
              <a:t>(</a:t>
            </a:r>
            <a:r>
              <a:rPr lang="ko-KR" altLang="en-US" dirty="0"/>
              <a:t>광주</a:t>
            </a:r>
            <a:r>
              <a:rPr lang="en-US" altLang="ko-KR" dirty="0"/>
              <a:t>): 2028 </a:t>
            </a:r>
            <a:r>
              <a:rPr lang="ko-KR" altLang="en-US" dirty="0"/>
              <a:t>학생부종합전형 모집단위 관련 교과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8741F-90FA-403F-AE0B-887CB5035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969862"/>
              </p:ext>
            </p:extLst>
          </p:nvPr>
        </p:nvGraphicFramePr>
        <p:xfrm>
          <a:off x="504856" y="1726968"/>
          <a:ext cx="11182288" cy="3723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184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3102960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0251914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514926544"/>
                    </a:ext>
                  </a:extLst>
                </a:gridCol>
              </a:tblGrid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생명과학기술학부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통계학과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인공지능학부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미래모빌리티학과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지구환경과학부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지구과학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빅데이터융합학과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생물학과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자율전공학부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(4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86745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치의학전문대학원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942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0662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BD8813-A659-4337-833C-4881D4DED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전남대</a:t>
            </a:r>
            <a:r>
              <a:rPr lang="en-US" altLang="ko-KR" dirty="0"/>
              <a:t>(</a:t>
            </a:r>
            <a:r>
              <a:rPr lang="ko-KR" altLang="en-US" dirty="0"/>
              <a:t>여수</a:t>
            </a:r>
            <a:r>
              <a:rPr lang="en-US" altLang="ko-KR" dirty="0"/>
              <a:t>): 2028 </a:t>
            </a:r>
            <a:r>
              <a:rPr lang="ko-KR" altLang="en-US" dirty="0"/>
              <a:t>학생부종합전형 모집단위 관련 교과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8741F-90FA-403F-AE0B-887CB5035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11424"/>
              </p:ext>
            </p:extLst>
          </p:nvPr>
        </p:nvGraphicFramePr>
        <p:xfrm>
          <a:off x="415210" y="1269768"/>
          <a:ext cx="11182288" cy="4787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184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3102960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0251914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514926544"/>
                    </a:ext>
                  </a:extLst>
                </a:gridCol>
              </a:tblGrid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공학계열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물류교통학과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국어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영어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건축디자인학과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문화콘텐츠학부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의공학부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문화관광경영학과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석유화학소재공학과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해양수산광역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chemeClr val="accent1"/>
                          </a:solidFill>
                        </a:rPr>
                        <a:t>지구과학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061671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국제학부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영어학전공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기관시스템공학과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86745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국제학부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일본학전공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일본어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조선해양공학과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942218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국제학부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중국학전공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중국어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수산생명의학과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775697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글로벌비즈니스학부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스마트수산자원관리학과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생명과학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chemeClr val="accent1"/>
                          </a:solidFill>
                        </a:rPr>
                        <a:t>지구과학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0972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E254E3F-4067-41A7-893D-49A5CA4F793C}"/>
              </a:ext>
            </a:extLst>
          </p:cNvPr>
          <p:cNvSpPr txBox="1"/>
          <p:nvPr/>
        </p:nvSpPr>
        <p:spPr>
          <a:xfrm>
            <a:off x="502024" y="6236044"/>
            <a:ext cx="960119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※ </a:t>
            </a:r>
            <a:r>
              <a:rPr lang="ko-KR" altLang="en-US" b="1" dirty="0" err="1"/>
              <a:t>해양수산광역</a:t>
            </a:r>
            <a:r>
              <a:rPr lang="en-US" altLang="ko-KR" b="1" dirty="0"/>
              <a:t>, </a:t>
            </a:r>
            <a:r>
              <a:rPr lang="ko-KR" altLang="en-US" b="1" dirty="0" err="1"/>
              <a:t>스마트수산자원관리학과</a:t>
            </a:r>
            <a:r>
              <a:rPr lang="en-US" altLang="ko-KR" b="1" dirty="0"/>
              <a:t>: </a:t>
            </a:r>
            <a:r>
              <a:rPr lang="ko-KR" altLang="en-US" b="1" dirty="0"/>
              <a:t> </a:t>
            </a:r>
            <a:r>
              <a:rPr lang="ko-KR" altLang="en-US" b="1" dirty="0">
                <a:solidFill>
                  <a:schemeClr val="accent1"/>
                </a:solidFill>
              </a:rPr>
              <a:t>지구과학</a:t>
            </a:r>
            <a:r>
              <a:rPr lang="ko-KR" altLang="en-US" b="1" dirty="0"/>
              <a:t>에서 행성우주과학 이수는 불필요</a:t>
            </a:r>
          </a:p>
        </p:txBody>
      </p:sp>
    </p:spTree>
    <p:extLst>
      <p:ext uri="{BB962C8B-B14F-4D97-AF65-F5344CB8AC3E}">
        <p14:creationId xmlns:p14="http://schemas.microsoft.com/office/powerpoint/2010/main" val="26431032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BD8813-A659-4337-833C-4881D4DED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전남대</a:t>
            </a:r>
            <a:r>
              <a:rPr lang="en-US" altLang="ko-KR" dirty="0"/>
              <a:t>(</a:t>
            </a:r>
            <a:r>
              <a:rPr lang="ko-KR" altLang="en-US" dirty="0"/>
              <a:t>여수</a:t>
            </a:r>
            <a:r>
              <a:rPr lang="en-US" altLang="ko-KR" dirty="0"/>
              <a:t>): 2028 </a:t>
            </a:r>
            <a:r>
              <a:rPr lang="ko-KR" altLang="en-US" dirty="0"/>
              <a:t>학생부종합전형 모집단위 관련 교과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8741F-90FA-403F-AE0B-887CB5035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536213"/>
              </p:ext>
            </p:extLst>
          </p:nvPr>
        </p:nvGraphicFramePr>
        <p:xfrm>
          <a:off x="504856" y="1977980"/>
          <a:ext cx="11182288" cy="2127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184">
                  <a:extLst>
                    <a:ext uri="{9D8B030D-6E8A-4147-A177-3AD203B41FA5}">
                      <a16:colId xmlns:a16="http://schemas.microsoft.com/office/drawing/2014/main" val="1472886974"/>
                    </a:ext>
                  </a:extLst>
                </a:gridCol>
                <a:gridCol w="3102960">
                  <a:extLst>
                    <a:ext uri="{9D8B030D-6E8A-4147-A177-3AD203B41FA5}">
                      <a16:colId xmlns:a16="http://schemas.microsoft.com/office/drawing/2014/main" val="253966386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02519148"/>
                    </a:ext>
                  </a:extLst>
                </a:gridCol>
                <a:gridCol w="2795572">
                  <a:extLst>
                    <a:ext uri="{9D8B030D-6E8A-4147-A177-3AD203B41FA5}">
                      <a16:colId xmlns:a16="http://schemas.microsoft.com/office/drawing/2014/main" val="1514926544"/>
                    </a:ext>
                  </a:extLst>
                </a:gridCol>
              </a:tblGrid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모집단위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교과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군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및 과목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350381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창의융합학부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영어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스마트전기제어공학과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497912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스마트응용설계공학과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디지털융합정보학과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96606"/>
                  </a:ext>
                </a:extLst>
              </a:tr>
              <a:tr h="53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스마트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ICT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융합공학과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수학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물리학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0953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637E78-02A5-407D-BDC2-ABDA8FB6E997}"/>
              </a:ext>
            </a:extLst>
          </p:cNvPr>
          <p:cNvSpPr txBox="1"/>
          <p:nvPr/>
        </p:nvSpPr>
        <p:spPr>
          <a:xfrm>
            <a:off x="504856" y="4532750"/>
            <a:ext cx="960119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※ </a:t>
            </a:r>
            <a:r>
              <a:rPr lang="ko-KR" altLang="en-US" b="1" dirty="0" err="1"/>
              <a:t>해당학년도</a:t>
            </a:r>
            <a:r>
              <a:rPr lang="ko-KR" altLang="en-US" b="1" dirty="0"/>
              <a:t> 시행계획 사전예고 이전에 안내되는 자료인 만큼 추후 내용이 변경될 수 있음</a:t>
            </a:r>
          </a:p>
        </p:txBody>
      </p:sp>
    </p:spTree>
    <p:extLst>
      <p:ext uri="{BB962C8B-B14F-4D97-AF65-F5344CB8AC3E}">
        <p14:creationId xmlns:p14="http://schemas.microsoft.com/office/powerpoint/2010/main" val="35473749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AB65E7B-D361-4B82-B68B-F1626641B3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D951C3-D1CF-4447-8803-4957E008F9CD}"/>
              </a:ext>
            </a:extLst>
          </p:cNvPr>
          <p:cNvSpPr/>
          <p:nvPr/>
        </p:nvSpPr>
        <p:spPr>
          <a:xfrm>
            <a:off x="441273" y="1630123"/>
            <a:ext cx="11309454" cy="42820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권장 이수 과목 설정 목적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충남대학교는 고교학점제 및 </a:t>
            </a:r>
            <a:r>
              <a:rPr lang="en-US" altLang="ko-KR" b="1" dirty="0">
                <a:solidFill>
                  <a:schemeClr val="tx1"/>
                </a:solidFill>
              </a:rPr>
              <a:t>2022 </a:t>
            </a:r>
            <a:r>
              <a:rPr lang="ko-KR" altLang="en-US" b="1" dirty="0">
                <a:solidFill>
                  <a:schemeClr val="tx1"/>
                </a:solidFill>
              </a:rPr>
              <a:t>개정 교육과정 도입에 따른 학생의 자율적인 과목 선택권 확대에 따라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대학의 전공교육과의 연계성을 강화</a:t>
            </a:r>
            <a:r>
              <a:rPr lang="ko-KR" altLang="en-US" b="1" dirty="0">
                <a:solidFill>
                  <a:schemeClr val="tx1"/>
                </a:solidFill>
              </a:rPr>
              <a:t>한 교과 이수 방향을 제시하고자 합니다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고교 교육과정 중심의 학교 교육 정상화를 유도하고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학생의 진로 탐색 및 전공 적합성을 고려</a:t>
            </a:r>
            <a:r>
              <a:rPr lang="ko-KR" altLang="en-US" b="1" dirty="0">
                <a:solidFill>
                  <a:schemeClr val="tx1"/>
                </a:solidFill>
              </a:rPr>
              <a:t>한 과목 선택을 돕고자 합니다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chemeClr val="tx1"/>
                </a:solidFill>
              </a:rPr>
              <a:t>권장 이수 과목의 성격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본 권장 이수 과목은 학생 선발 시 </a:t>
            </a:r>
            <a:r>
              <a:rPr lang="ko-KR" altLang="en-US" b="1" dirty="0">
                <a:solidFill>
                  <a:srgbClr val="0070C0"/>
                </a:solidFill>
              </a:rPr>
              <a:t>필수 이수 요건</a:t>
            </a:r>
            <a:r>
              <a:rPr lang="ko-KR" altLang="en-US" b="1" dirty="0">
                <a:solidFill>
                  <a:schemeClr val="tx1"/>
                </a:solidFill>
              </a:rPr>
              <a:t>이 아니며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평가에 있어 </a:t>
            </a:r>
            <a:r>
              <a:rPr lang="ko-KR" altLang="en-US" b="1" dirty="0">
                <a:solidFill>
                  <a:srgbClr val="0070C0"/>
                </a:solidFill>
              </a:rPr>
              <a:t>절대적인 기준으로 적용되지 않습니다</a:t>
            </a:r>
            <a:r>
              <a:rPr lang="en-US" altLang="ko-KR" b="1" dirty="0">
                <a:solidFill>
                  <a:srgbClr val="0070C0"/>
                </a:solidFill>
              </a:rPr>
              <a:t>.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다만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해당 과목을 이수한 경우 </a:t>
            </a:r>
            <a:r>
              <a:rPr lang="ko-KR" altLang="en-US" b="1" dirty="0">
                <a:solidFill>
                  <a:srgbClr val="FF0000"/>
                </a:solidFill>
              </a:rPr>
              <a:t>학업역량 평가 항목에서 긍정적으로 고려</a:t>
            </a:r>
            <a:r>
              <a:rPr lang="ko-KR" altLang="en-US" b="1" dirty="0">
                <a:solidFill>
                  <a:schemeClr val="tx1"/>
                </a:solidFill>
              </a:rPr>
              <a:t>될 수 있습니다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FF0000"/>
                </a:solidFill>
              </a:rPr>
              <a:t>다양한 교육환경과 학교별 개설 과목의 차이를 인정</a:t>
            </a:r>
            <a:r>
              <a:rPr lang="ko-KR" altLang="en-US" b="1" dirty="0">
                <a:solidFill>
                  <a:schemeClr val="tx1"/>
                </a:solidFill>
              </a:rPr>
              <a:t>하며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이수 여부는 정성적으로 종합평가 됩니다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35464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AB65E7B-D361-4B82-B68B-F1626641B3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D951C3-D1CF-4447-8803-4957E008F9CD}"/>
              </a:ext>
            </a:extLst>
          </p:cNvPr>
          <p:cNvSpPr/>
          <p:nvPr/>
        </p:nvSpPr>
        <p:spPr>
          <a:xfrm>
            <a:off x="369555" y="1289465"/>
            <a:ext cx="11309454" cy="24219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/>
                </a:solidFill>
              </a:rPr>
              <a:t>본 권장 과목 이수 이외에도 학생의 진로 및 학업 계획에 따라 자율적으로 과목을 선택하여 이수할 수 있으며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충남대학교는 </a:t>
            </a:r>
            <a:r>
              <a:rPr lang="ko-KR" altLang="en-US" b="1" dirty="0" err="1">
                <a:solidFill>
                  <a:schemeClr val="tx1"/>
                </a:solidFill>
              </a:rPr>
              <a:t>고교별</a:t>
            </a:r>
            <a:r>
              <a:rPr lang="ko-KR" altLang="en-US" b="1" dirty="0">
                <a:solidFill>
                  <a:schemeClr val="tx1"/>
                </a:solidFill>
              </a:rPr>
              <a:t> 개설된 교육과정과 학생의 과목 선택권을 존중하고 개별 과목의 이수 여부보다 전반적인 </a:t>
            </a:r>
            <a:r>
              <a:rPr lang="ko-KR" altLang="en-US" b="1" dirty="0">
                <a:solidFill>
                  <a:srgbClr val="FF0000"/>
                </a:solidFill>
              </a:rPr>
              <a:t>학업의 성실성과 진로 연계성</a:t>
            </a:r>
            <a:r>
              <a:rPr lang="ko-KR" altLang="en-US" b="1" dirty="0">
                <a:solidFill>
                  <a:schemeClr val="tx1"/>
                </a:solidFill>
              </a:rPr>
              <a:t>을 중요하게 평가합니다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>
                <a:solidFill>
                  <a:schemeClr val="tx1"/>
                </a:solidFill>
              </a:rPr>
              <a:t>2028</a:t>
            </a:r>
            <a:r>
              <a:rPr lang="ko-KR" altLang="en-US" b="1" dirty="0">
                <a:solidFill>
                  <a:schemeClr val="tx1"/>
                </a:solidFill>
              </a:rPr>
              <a:t>학년도 충남대학교 학생부종합전형 권장 이수 과목은 고등학교 학생들의 과목 선택에 도움을 주기 위한 참고 자료로써 </a:t>
            </a:r>
            <a:r>
              <a:rPr lang="en-US" altLang="ko-KR" b="1" dirty="0">
                <a:solidFill>
                  <a:srgbClr val="0070C0"/>
                </a:solidFill>
              </a:rPr>
              <a:t>2028</a:t>
            </a:r>
            <a:r>
              <a:rPr lang="ko-KR" altLang="en-US" b="1" dirty="0">
                <a:solidFill>
                  <a:srgbClr val="0070C0"/>
                </a:solidFill>
              </a:rPr>
              <a:t>학년도 대학입학전형 기본계획 수립 결과에 따라 내용이 변경</a:t>
            </a:r>
            <a:r>
              <a:rPr lang="ko-KR" altLang="en-US" b="1" dirty="0">
                <a:solidFill>
                  <a:schemeClr val="tx1"/>
                </a:solidFill>
              </a:rPr>
              <a:t>될 수 있습니다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7602CF2-52B0-42E1-9084-26D42B467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25187"/>
              </p:ext>
            </p:extLst>
          </p:nvPr>
        </p:nvGraphicFramePr>
        <p:xfrm>
          <a:off x="369554" y="3836122"/>
          <a:ext cx="11309455" cy="2721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891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2261891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2261891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2261891">
                  <a:extLst>
                    <a:ext uri="{9D8B030D-6E8A-4147-A177-3AD203B41FA5}">
                      <a16:colId xmlns:a16="http://schemas.microsoft.com/office/drawing/2014/main" val="708104733"/>
                    </a:ext>
                  </a:extLst>
                </a:gridCol>
                <a:gridCol w="2261891">
                  <a:extLst>
                    <a:ext uri="{9D8B030D-6E8A-4147-A177-3AD203B41FA5}">
                      <a16:colId xmlns:a16="http://schemas.microsoft.com/office/drawing/2014/main" val="264072060"/>
                    </a:ext>
                  </a:extLst>
                </a:gridCol>
              </a:tblGrid>
              <a:tr h="518524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5185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51852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인문대학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국어교육과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영어교육과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교육학과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국어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531128"/>
                  </a:ext>
                </a:extLst>
              </a:tr>
              <a:tr h="5185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689229"/>
                  </a:ext>
                </a:extLst>
              </a:tr>
              <a:tr h="5185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제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외국어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한문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99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3328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4CEB7B-43A8-4151-8FF8-C5182ED58F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FFFABB6-A37E-4DCB-8F1A-ED5B272B6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56505"/>
              </p:ext>
            </p:extLst>
          </p:nvPr>
        </p:nvGraphicFramePr>
        <p:xfrm>
          <a:off x="441272" y="1356160"/>
          <a:ext cx="11309455" cy="499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810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2321859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2447365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448235">
                  <a:extLst>
                    <a:ext uri="{9D8B030D-6E8A-4147-A177-3AD203B41FA5}">
                      <a16:colId xmlns:a16="http://schemas.microsoft.com/office/drawing/2014/main" val="3599817460"/>
                    </a:ext>
                  </a:extLst>
                </a:gridCol>
                <a:gridCol w="2841812">
                  <a:extLst>
                    <a:ext uri="{9D8B030D-6E8A-4147-A177-3AD203B41FA5}">
                      <a16:colId xmlns:a16="http://schemas.microsoft.com/office/drawing/2014/main" val="708104733"/>
                    </a:ext>
                  </a:extLst>
                </a:gridCol>
                <a:gridCol w="1172374">
                  <a:extLst>
                    <a:ext uri="{9D8B030D-6E8A-4147-A177-3AD203B41FA5}">
                      <a16:colId xmlns:a16="http://schemas.microsoft.com/office/drawing/2014/main" val="2815264533"/>
                    </a:ext>
                  </a:extLst>
                </a:gridCol>
              </a:tblGrid>
              <a:tr h="2889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2889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307022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사회과학대학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국가안보융합학부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국어</a:t>
                      </a:r>
                      <a:endParaRPr lang="en-US" altLang="ko-KR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531128"/>
                  </a:ext>
                </a:extLst>
              </a:tr>
              <a:tr h="307022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689229"/>
                  </a:ext>
                </a:extLst>
              </a:tr>
              <a:tr h="307022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사회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도덕포함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99808"/>
                  </a:ext>
                </a:extLst>
              </a:tr>
              <a:tr h="81021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확률과 통계</a:t>
                      </a:r>
                      <a:endParaRPr lang="en-US" altLang="ko-KR" b="1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사회학과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심리학과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사회복지학과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</a:rPr>
                        <a:t>행정학부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44004"/>
                  </a:ext>
                </a:extLst>
              </a:tr>
              <a:tr h="868632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자연과학대학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기하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수학과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정보통계학과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물리학과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천문우주학과</a:t>
                      </a:r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기하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수학과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정보통계학과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물리학과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Ⅱ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+mn-ea"/>
                        </a:rPr>
                        <a:t>천문우주학과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876023"/>
                  </a:ext>
                </a:extLst>
              </a:tr>
              <a:tr h="307022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/>
                        <a:t>적성과 진로에 맞게 일반선택과목 이수 후 진로선택과목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246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7858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4CEB7B-43A8-4151-8FF8-C5182ED58F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FFFABB6-A37E-4DCB-8F1A-ED5B272B6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151115"/>
              </p:ext>
            </p:extLst>
          </p:nvPr>
        </p:nvGraphicFramePr>
        <p:xfrm>
          <a:off x="359992" y="1224080"/>
          <a:ext cx="11309455" cy="524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810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1047078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3881120">
                  <a:extLst>
                    <a:ext uri="{9D8B030D-6E8A-4147-A177-3AD203B41FA5}">
                      <a16:colId xmlns:a16="http://schemas.microsoft.com/office/drawing/2014/main" val="502333357"/>
                    </a:ext>
                  </a:extLst>
                </a:gridCol>
                <a:gridCol w="1611047">
                  <a:extLst>
                    <a:ext uri="{9D8B030D-6E8A-4147-A177-3AD203B41FA5}">
                      <a16:colId xmlns:a16="http://schemas.microsoft.com/office/drawing/2014/main" val="2002448042"/>
                    </a:ext>
                  </a:extLst>
                </a:gridCol>
              </a:tblGrid>
              <a:tr h="37574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37574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진로선택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융합선택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46217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경상대학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715218"/>
                  </a:ext>
                </a:extLst>
              </a:tr>
              <a:tr h="46217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930497"/>
                  </a:ext>
                </a:extLst>
              </a:tr>
              <a:tr h="8848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공과대학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719313"/>
                  </a:ext>
                </a:extLst>
              </a:tr>
              <a:tr h="46217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적성과 진로에 맞게 일반선택과목 이수 후 진로선택과목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172623"/>
                  </a:ext>
                </a:extLst>
              </a:tr>
              <a:tr h="8848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의과대학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약학대학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수의과대학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대수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미적분 </a:t>
                      </a:r>
                      <a:r>
                        <a:rPr lang="en-US" altLang="ko-KR" sz="1800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기하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014121"/>
                  </a:ext>
                </a:extLst>
              </a:tr>
              <a:tr h="133418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화학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화학반응의 세계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생물의 유전 </a:t>
                      </a:r>
                      <a:r>
                        <a:rPr lang="ko-KR" altLang="en-US" sz="1800" dirty="0"/>
                        <a:t>중 </a:t>
                      </a:r>
                      <a:endParaRPr lang="en-US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382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3921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4CEB7B-43A8-4151-8FF8-C5182ED58F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FFFABB6-A37E-4DCB-8F1A-ED5B272B6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336300"/>
              </p:ext>
            </p:extLst>
          </p:nvPr>
        </p:nvGraphicFramePr>
        <p:xfrm>
          <a:off x="359992" y="1224080"/>
          <a:ext cx="11309455" cy="5034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288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2240509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2728189">
                  <a:extLst>
                    <a:ext uri="{9D8B030D-6E8A-4147-A177-3AD203B41FA5}">
                      <a16:colId xmlns:a16="http://schemas.microsoft.com/office/drawing/2014/main" val="502333357"/>
                    </a:ext>
                  </a:extLst>
                </a:gridCol>
                <a:gridCol w="2728189">
                  <a:extLst>
                    <a:ext uri="{9D8B030D-6E8A-4147-A177-3AD203B41FA5}">
                      <a16:colId xmlns:a16="http://schemas.microsoft.com/office/drawing/2014/main" val="2002448042"/>
                    </a:ext>
                  </a:extLst>
                </a:gridCol>
              </a:tblGrid>
              <a:tr h="40374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403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92557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생활과학대학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소비자학과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의류학과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773953"/>
                  </a:ext>
                </a:extLst>
              </a:tr>
              <a:tr h="483426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생활과학대학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식품영양학과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694027"/>
                  </a:ext>
                </a:extLst>
              </a:tr>
              <a:tr h="92557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502181"/>
                  </a:ext>
                </a:extLst>
              </a:tr>
              <a:tr h="4834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적성과 진로에 맞게 일반선택과목 이수 후 진로선택과목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700932"/>
                  </a:ext>
                </a:extLst>
              </a:tr>
              <a:tr h="92557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사범대학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수학교육과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기하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787785"/>
                  </a:ext>
                </a:extLst>
              </a:tr>
              <a:tr h="4834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적성과 진로에 맞게 일반선택과목 이수 후 진로선택과목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816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7760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4CEB7B-43A8-4151-8FF8-C5182ED58F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FFFABB6-A37E-4DCB-8F1A-ED5B272B6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801601"/>
              </p:ext>
            </p:extLst>
          </p:nvPr>
        </p:nvGraphicFramePr>
        <p:xfrm>
          <a:off x="276900" y="1274880"/>
          <a:ext cx="11309454" cy="5024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6140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983708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2846722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3716638">
                  <a:extLst>
                    <a:ext uri="{9D8B030D-6E8A-4147-A177-3AD203B41FA5}">
                      <a16:colId xmlns:a16="http://schemas.microsoft.com/office/drawing/2014/main" val="502333357"/>
                    </a:ext>
                  </a:extLst>
                </a:gridCol>
                <a:gridCol w="1306246">
                  <a:extLst>
                    <a:ext uri="{9D8B030D-6E8A-4147-A177-3AD203B41FA5}">
                      <a16:colId xmlns:a16="http://schemas.microsoft.com/office/drawing/2014/main" val="2963073003"/>
                    </a:ext>
                  </a:extLst>
                </a:gridCol>
              </a:tblGrid>
              <a:tr h="4038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4038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융합선택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951154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사범대학</a:t>
                      </a:r>
                      <a:endParaRPr lang="en-US" altLang="ko-KR" sz="18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건설공학교육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기계공학교육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전기전자통신공학교육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화학공학교육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기술교육과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720577"/>
                  </a:ext>
                </a:extLst>
              </a:tr>
              <a:tr h="13630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적성과 진로에 맞게 일반선택과목 이수 후 진로선택과목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791032"/>
                  </a:ext>
                </a:extLst>
              </a:tr>
              <a:tr h="95115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간호대학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471368"/>
                  </a:ext>
                </a:extLst>
              </a:tr>
              <a:tr h="9511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생물의 유전 </a:t>
                      </a:r>
                      <a:r>
                        <a:rPr lang="ko-KR" altLang="en-US" dirty="0"/>
                        <a:t>중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443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0465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4CEB7B-43A8-4151-8FF8-C5182ED58F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FFFABB6-A37E-4DCB-8F1A-ED5B272B6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97057"/>
              </p:ext>
            </p:extLst>
          </p:nvPr>
        </p:nvGraphicFramePr>
        <p:xfrm>
          <a:off x="276900" y="1274880"/>
          <a:ext cx="11488381" cy="5054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044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1026856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2790393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3712007">
                  <a:extLst>
                    <a:ext uri="{9D8B030D-6E8A-4147-A177-3AD203B41FA5}">
                      <a16:colId xmlns:a16="http://schemas.microsoft.com/office/drawing/2014/main" val="502333357"/>
                    </a:ext>
                  </a:extLst>
                </a:gridCol>
                <a:gridCol w="1402081">
                  <a:extLst>
                    <a:ext uri="{9D8B030D-6E8A-4147-A177-3AD203B41FA5}">
                      <a16:colId xmlns:a16="http://schemas.microsoft.com/office/drawing/2014/main" val="2963073003"/>
                    </a:ext>
                  </a:extLst>
                </a:gridCol>
              </a:tblGrid>
              <a:tr h="45682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4568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10758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생명시스템과학대학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517095"/>
                  </a:ext>
                </a:extLst>
              </a:tr>
              <a:tr h="15897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생명과학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물질과 에너지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화학반응의 세계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세포와 물질대사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생물의 유전 </a:t>
                      </a:r>
                      <a:r>
                        <a:rPr lang="ko-KR" altLang="en-US" sz="1800" dirty="0"/>
                        <a:t>중 </a:t>
                      </a:r>
                      <a:endParaRPr lang="en-US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518022"/>
                  </a:ext>
                </a:extLst>
              </a:tr>
              <a:tr h="4568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지식융합학부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751492"/>
                  </a:ext>
                </a:extLst>
              </a:tr>
              <a:tr h="56190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395274"/>
                  </a:ext>
                </a:extLst>
              </a:tr>
              <a:tr h="4568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국제학부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932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3563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4CEB7B-43A8-4151-8FF8-C5182ED58F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FFFABB6-A37E-4DCB-8F1A-ED5B272B6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00834"/>
              </p:ext>
            </p:extLst>
          </p:nvPr>
        </p:nvGraphicFramePr>
        <p:xfrm>
          <a:off x="195620" y="1027357"/>
          <a:ext cx="11645023" cy="5733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286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2140583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4469578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1958995">
                  <a:extLst>
                    <a:ext uri="{9D8B030D-6E8A-4147-A177-3AD203B41FA5}">
                      <a16:colId xmlns:a16="http://schemas.microsoft.com/office/drawing/2014/main" val="811463653"/>
                    </a:ext>
                  </a:extLst>
                </a:gridCol>
                <a:gridCol w="1448581">
                  <a:extLst>
                    <a:ext uri="{9D8B030D-6E8A-4147-A177-3AD203B41FA5}">
                      <a16:colId xmlns:a16="http://schemas.microsoft.com/office/drawing/2014/main" val="2963073003"/>
                    </a:ext>
                  </a:extLst>
                </a:gridCol>
              </a:tblGrid>
              <a:tr h="269544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3674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3674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인문사회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융합학부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국어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517095"/>
                  </a:ext>
                </a:extLst>
              </a:tr>
              <a:tr h="3674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518022"/>
                  </a:ext>
                </a:extLst>
              </a:tr>
              <a:tr h="7034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사회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도덕포함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180822"/>
                  </a:ext>
                </a:extLst>
              </a:tr>
              <a:tr h="3674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적성과 진로에 맞게 확률과 통계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304160"/>
                  </a:ext>
                </a:extLst>
              </a:tr>
              <a:tr h="70346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자연과학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융합학부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354622"/>
                  </a:ext>
                </a:extLst>
              </a:tr>
              <a:tr h="3674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적성과 진로에 맞게 일반선택과목 이수 후 진로선택과목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851363"/>
                  </a:ext>
                </a:extLst>
              </a:tr>
              <a:tr h="70346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공학융합학부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043549"/>
                  </a:ext>
                </a:extLst>
              </a:tr>
              <a:tr h="3674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적성과 진로에 맞게 일반선택과목 이수 후 진로선택과목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434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2465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D1A506B-3603-41B4-9D7C-23E8EC334A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70CC620-D4B1-4378-8D23-E7710E4EF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773906"/>
              </p:ext>
            </p:extLst>
          </p:nvPr>
        </p:nvGraphicFramePr>
        <p:xfrm>
          <a:off x="273487" y="1332156"/>
          <a:ext cx="11645025" cy="4977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20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3077995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2329005">
                  <a:extLst>
                    <a:ext uri="{9D8B030D-6E8A-4147-A177-3AD203B41FA5}">
                      <a16:colId xmlns:a16="http://schemas.microsoft.com/office/drawing/2014/main" val="811463653"/>
                    </a:ext>
                  </a:extLst>
                </a:gridCol>
                <a:gridCol w="2329005">
                  <a:extLst>
                    <a:ext uri="{9D8B030D-6E8A-4147-A177-3AD203B41FA5}">
                      <a16:colId xmlns:a16="http://schemas.microsoft.com/office/drawing/2014/main" val="2963073003"/>
                    </a:ext>
                  </a:extLst>
                </a:gridCol>
              </a:tblGrid>
              <a:tr h="506368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5063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506368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영농창업인재전형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농업경제학과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544593"/>
                  </a:ext>
                </a:extLst>
              </a:tr>
              <a:tr h="96949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사회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도덕포함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863009"/>
                  </a:ext>
                </a:extLst>
              </a:tr>
              <a:tr h="506368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007241"/>
                  </a:ext>
                </a:extLst>
              </a:tr>
              <a:tr h="506368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영농창업인재전형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원예학과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생물환경과학과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568295"/>
                  </a:ext>
                </a:extLst>
              </a:tr>
              <a:tr h="96949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809602"/>
                  </a:ext>
                </a:extLst>
              </a:tr>
              <a:tr h="506368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적성과 진로에 맞게 일반선택과목 이수 후 진로선택과목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629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683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D1A506B-3603-41B4-9D7C-23E8EC334A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900" y="300492"/>
            <a:ext cx="7950200" cy="461665"/>
          </a:xfrm>
        </p:spPr>
        <p:txBody>
          <a:bodyPr/>
          <a:lstStyle/>
          <a:p>
            <a:r>
              <a:rPr lang="ko-KR" altLang="en-US" dirty="0"/>
              <a:t>충남대</a:t>
            </a:r>
            <a:r>
              <a:rPr lang="en-US" altLang="ko-KR" dirty="0"/>
              <a:t>: 2028 </a:t>
            </a:r>
            <a:r>
              <a:rPr lang="ko-KR" altLang="en-US" dirty="0"/>
              <a:t>학생부종합전형 권장 이수 과목 안내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70CC620-D4B1-4378-8D23-E7710E4EF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31115"/>
              </p:ext>
            </p:extLst>
          </p:nvPr>
        </p:nvGraphicFramePr>
        <p:xfrm>
          <a:off x="195620" y="1027356"/>
          <a:ext cx="11645024" cy="5292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500">
                  <a:extLst>
                    <a:ext uri="{9D8B030D-6E8A-4147-A177-3AD203B41FA5}">
                      <a16:colId xmlns:a16="http://schemas.microsoft.com/office/drawing/2014/main" val="1117336276"/>
                    </a:ext>
                  </a:extLst>
                </a:gridCol>
                <a:gridCol w="2001520">
                  <a:extLst>
                    <a:ext uri="{9D8B030D-6E8A-4147-A177-3AD203B41FA5}">
                      <a16:colId xmlns:a16="http://schemas.microsoft.com/office/drawing/2014/main" val="3422538578"/>
                    </a:ext>
                  </a:extLst>
                </a:gridCol>
                <a:gridCol w="2578668">
                  <a:extLst>
                    <a:ext uri="{9D8B030D-6E8A-4147-A177-3AD203B41FA5}">
                      <a16:colId xmlns:a16="http://schemas.microsoft.com/office/drawing/2014/main" val="3276446106"/>
                    </a:ext>
                  </a:extLst>
                </a:gridCol>
                <a:gridCol w="2578668">
                  <a:extLst>
                    <a:ext uri="{9D8B030D-6E8A-4147-A177-3AD203B41FA5}">
                      <a16:colId xmlns:a16="http://schemas.microsoft.com/office/drawing/2014/main" val="811463653"/>
                    </a:ext>
                  </a:extLst>
                </a:gridCol>
                <a:gridCol w="2578668">
                  <a:extLst>
                    <a:ext uri="{9D8B030D-6E8A-4147-A177-3AD203B41FA5}">
                      <a16:colId xmlns:a16="http://schemas.microsoft.com/office/drawing/2014/main" val="2963073003"/>
                    </a:ext>
                  </a:extLst>
                </a:gridCol>
              </a:tblGrid>
              <a:tr h="50624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모집단위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교과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선택과목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97089"/>
                  </a:ext>
                </a:extLst>
              </a:tr>
              <a:tr h="50624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일반선택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진로선택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융합선택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3384"/>
                  </a:ext>
                </a:extLst>
              </a:tr>
              <a:tr h="969265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농생명융합학부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농업경제학과 진로희망자 제외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대수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미적분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+mn-ea"/>
                        </a:rPr>
                        <a:t>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맑은 고딕" panose="020B0503020000020004" pitchFamily="50" charset="-127"/>
                          <a:ea typeface="+mn-ea"/>
                        </a:rPr>
                        <a:t>확률과 통계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적성 진로에 맞게 기하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미적분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Ⅱ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이수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544593"/>
                  </a:ext>
                </a:extLst>
              </a:tr>
              <a:tr h="13286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과학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적성과 진로에 맞게 일반선택과목 이수 후 진로선택과목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과목 이상 이수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863009"/>
                  </a:ext>
                </a:extLst>
              </a:tr>
              <a:tr h="506247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농생명융합학부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농업경제학과 진로희망자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영어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568295"/>
                  </a:ext>
                </a:extLst>
              </a:tr>
              <a:tr h="96926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사회</a:t>
                      </a:r>
                      <a:endParaRPr lang="en-US" altLang="ko-KR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역사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도덕포함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과목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809602"/>
                  </a:ext>
                </a:extLst>
              </a:tr>
              <a:tr h="50624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확률과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629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786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5710</Words>
  <Application>Microsoft Office PowerPoint</Application>
  <PresentationFormat>와이드스크린</PresentationFormat>
  <Paragraphs>1576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6" baseType="lpstr">
      <vt:lpstr>맑은 고딕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정태영</dc:creator>
  <cp:lastModifiedBy>정태영</cp:lastModifiedBy>
  <cp:revision>239</cp:revision>
  <dcterms:created xsi:type="dcterms:W3CDTF">2025-03-23T04:53:21Z</dcterms:created>
  <dcterms:modified xsi:type="dcterms:W3CDTF">2025-08-29T22:29:26Z</dcterms:modified>
</cp:coreProperties>
</file>